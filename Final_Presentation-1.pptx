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78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94660"/>
  </p:normalViewPr>
  <p:slideViewPr>
    <p:cSldViewPr snapToGrid="0">
      <p:cViewPr varScale="1">
        <p:scale>
          <a:sx n="82" d="100"/>
          <a:sy n="82" d="100"/>
        </p:scale>
        <p:origin x="44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viewProps" Target="viewProp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58444-3A64-4221-882B-F0C917B9AF9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C78D01-A66E-4A75-ACEE-F04FA68C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2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85CFD-D571-D699-FF45-ACD4F5252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23C155-8338-D37C-78F6-723EF8BDA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AA90B-C7BF-E35D-7983-2ED809C18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07873-F00B-47D5-B83C-E415554911F1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3432B-2CF0-AD5D-1365-06CCBEFD1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54163-C97C-240B-ABCD-2326CC2B9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76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604FE-B7E0-9C8E-A28A-1586A0D4F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1C501-3B75-1450-CF82-9C01EF8FF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3FE45-7B35-C3BC-D8B1-EEC4839F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C0170-6B19-4B1A-B520-0B39EF705900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7F8C2-41BF-0950-3465-6FFF2FE18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0A62D-39B9-6B29-81EC-3EAC10CC0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213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1D76D-0D05-F6B7-35DA-70110CB4E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A755B-8C34-7B88-72FB-A31C2452C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E1C29-C29F-301B-68C7-1A5E23C09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F2EA3-A5D5-4339-B3BB-2BE3446E55BB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BF4CC-9DB8-5C27-7FB8-41227AAD4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4FA8B-F1DA-AA6B-CA1A-00897CC37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432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142F5-DC01-E235-6ACB-B76D892DE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76167-40B3-F8D9-D12D-ED4AFA60E2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33299-394E-6678-1D76-74BA3D64A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C33E7-3627-0C73-55A5-ACBB8C8AF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0F7C5-62E2-42C1-A74C-58E1834F649F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8E34-6956-B86B-A27D-627761D14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66147-CA26-B52C-CD0A-743995D34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59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0C47C-E59E-FC22-5942-74FD7A0FA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8B77E-FA46-BF4E-C769-4C8408B24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0C3D-0250-DFFB-2B2A-4C546D3D3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8E2D00-07F5-6F6A-8790-EBE3F9ADA0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DBFAE-23F6-302A-DB34-076594D21D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1D3CF7-DD79-4CE6-D3B7-8CB57D9AF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D4589-B216-4E09-8A4D-9DBFB438E025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5C268A-54F1-EE47-962A-3189CA9E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9C0E7A-564B-2BBD-9EAC-A85F92693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8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56B98-C56F-ECE0-FFB4-A410DFB87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9FE273-F6EF-677A-9782-1CF38B649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876BF-5C66-47B2-A3FE-9B030F548953}" type="datetime1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D21D7E-5002-9A4E-949F-F73409DBE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8E0EB-7A01-1D34-53D7-C5D7B76DE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05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1B4212-F0E5-D73E-D114-D5378174F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D4474-B224-417E-867C-D1BFB95630A3}" type="datetime1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C54279-E7F4-2B26-0426-0B38AF713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D41D3-19E7-B6F4-2002-45305557D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02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D8CBA-A0DF-47D4-6DEA-33AD25B0B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39807-8D1E-0762-85E6-C5C390ED2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EF15DA-24BB-BD54-7AF5-9CA7B5D42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24F0-7E35-6375-719A-7D59E1AF4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C2BE-B04B-4712-B23D-364597F2952A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4DB32-20F2-2113-B997-C73C96735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5FB09-BD43-4DDE-2267-3BEC986C0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785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FF4B8-D9D5-BEF8-5CC4-B188D4575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4251F7-EA61-60E5-C175-B2159BCA61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61891-EC4B-56EC-429B-0A6F0B44D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C9560-6742-0F26-65D0-DC81C37ED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87A82-2961-4214-8D17-8AC38AFCEF09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3971A-7216-95D0-5399-A19EFA437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7A5A2-747A-8D20-F5EE-A39E84552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58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A8B3-DE9D-3360-477D-389030A49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B0E85-9835-04C5-36E8-32648E547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72D08-D030-8D2D-E605-D76D8B36D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491F6-C8DF-4C13-8A73-ED7514022B76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D19D6-329A-2A3E-045D-474B8107F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4FCE0-BD2F-477D-EF12-0896F64EF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381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CE5D23-C00C-478D-345E-D4EBB70D8B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902E40-4811-A9B6-3EB2-A6FCCA6C9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6FEC1-4596-72D2-F2B5-F6586BC9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BE434-FC3A-4690-BEBA-0D909AB54CB3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A7D31-A0C9-44C5-1342-65C3BF788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E3E40-AB0C-5DF7-3A22-129D2BDD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0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671991-548F-FDFE-F527-D5EA623C2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B3D7C-AE74-46CD-B1DE-29FBE8960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AF5B6-2249-31F6-7325-85E86FA13B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F40B1-7368-4AD5-9694-6F34F62D5225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FC964-8C0B-7A2E-21F1-BDEC0D83F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449B3-4E4E-153E-0C8D-6D75C60CD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942E3-F4A5-43C2-BAB9-9EBDEB0A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0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SCX/CICFlowMeter" TargetMode="Externa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E510-F1C3-4F6B-7385-48BF9BF6A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2077" y="520289"/>
            <a:ext cx="10220446" cy="1319895"/>
          </a:xfrm>
        </p:spPr>
        <p:txBody>
          <a:bodyPr>
            <a:normAutofit/>
          </a:bodyPr>
          <a:lstStyle/>
          <a:p>
            <a:r>
              <a:rPr lang="en" sz="3600" dirty="0">
                <a:latin typeface="Times New Roman"/>
                <a:ea typeface="Times New Roman"/>
                <a:cs typeface="Times New Roman"/>
                <a:sym typeface="Times New Roman"/>
              </a:rPr>
              <a:t>An Ensemble Based Machine Learning Approach for Multi-Class Network Intrusion Detection System</a:t>
            </a:r>
            <a:endParaRPr lang="en-US" sz="36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13DEAE-9334-3E77-E8AB-457B91EA4852}"/>
              </a:ext>
            </a:extLst>
          </p:cNvPr>
          <p:cNvSpPr txBox="1">
            <a:spLocks/>
          </p:cNvSpPr>
          <p:nvPr/>
        </p:nvSpPr>
        <p:spPr>
          <a:xfrm>
            <a:off x="2293478" y="2543538"/>
            <a:ext cx="3044383" cy="2285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>
              <a:spcBef>
                <a:spcPts val="0"/>
              </a:spcBef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Md.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Afjal</a:t>
            </a: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l">
              <a:spcBef>
                <a:spcPts val="0"/>
              </a:spcBef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ID: 315212039</a:t>
            </a:r>
          </a:p>
          <a:p>
            <a:pPr lvl="0" algn="l">
              <a:spcBef>
                <a:spcPts val="0"/>
              </a:spcBef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Md. Hridoy</a:t>
            </a:r>
          </a:p>
          <a:p>
            <a:pPr lvl="0" algn="l">
              <a:spcBef>
                <a:spcPts val="0"/>
              </a:spcBef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ID: 315212050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DAD4BE1-9774-62CC-07DA-F51524BAC0C1}"/>
              </a:ext>
            </a:extLst>
          </p:cNvPr>
          <p:cNvSpPr txBox="1">
            <a:spLocks/>
          </p:cNvSpPr>
          <p:nvPr/>
        </p:nvSpPr>
        <p:spPr>
          <a:xfrm>
            <a:off x="7224531" y="2543536"/>
            <a:ext cx="3200400" cy="2286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Palash Saha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Lecturer,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F2E3C2-DD8E-A081-F72E-FDCD18E7FEC7}"/>
              </a:ext>
            </a:extLst>
          </p:cNvPr>
          <p:cNvCxnSpPr/>
          <p:nvPr/>
        </p:nvCxnSpPr>
        <p:spPr>
          <a:xfrm>
            <a:off x="1952144" y="3009417"/>
            <a:ext cx="2882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BA00B70-6D10-E505-3AB5-2A65324B3E51}"/>
              </a:ext>
            </a:extLst>
          </p:cNvPr>
          <p:cNvCxnSpPr/>
          <p:nvPr/>
        </p:nvCxnSpPr>
        <p:spPr>
          <a:xfrm>
            <a:off x="6971817" y="3009417"/>
            <a:ext cx="2882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oogle Shape;57;p13">
            <a:extLst>
              <a:ext uri="{FF2B5EF4-FFF2-40B4-BE49-F238E27FC236}">
                <a16:creationId xmlns:a16="http://schemas.microsoft.com/office/drawing/2014/main" id="{D9931DF1-E1F0-E361-4822-B284CB8D6D51}"/>
              </a:ext>
            </a:extLst>
          </p:cNvPr>
          <p:cNvSpPr/>
          <p:nvPr/>
        </p:nvSpPr>
        <p:spPr>
          <a:xfrm>
            <a:off x="1737886" y="5631869"/>
            <a:ext cx="8750545" cy="733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Times New Roman"/>
                <a:ea typeface="Times New Roman"/>
                <a:cs typeface="Times New Roman"/>
                <a:sym typeface="Times New Roman"/>
              </a:rPr>
              <a:t>Dept. of Computer Science and Engineering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Times New Roman"/>
                <a:ea typeface="Times New Roman"/>
                <a:cs typeface="Times New Roman"/>
                <a:sym typeface="Times New Roman"/>
              </a:rPr>
              <a:t>Hamdard University Bangladesh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" name="Picture 2" descr="C:\Users\LC PC\Desktop\WhatsApp Image 2025-02-03 at 07.09.30_63c08502.jpg">
            <a:extLst>
              <a:ext uri="{FF2B5EF4-FFF2-40B4-BE49-F238E27FC236}">
                <a16:creationId xmlns:a16="http://schemas.microsoft.com/office/drawing/2014/main" id="{1C7DBC16-5BD5-3488-4DFF-80FDBB9AE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403" y="5469911"/>
            <a:ext cx="12954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2993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63FE7-3AF0-AE6A-0024-F93EEB14B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9113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2AAFC-7977-FBE9-8A35-D6B74EF21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238"/>
            <a:ext cx="10515600" cy="5138637"/>
          </a:xfrm>
        </p:spPr>
        <p:txBody>
          <a:bodyPr>
            <a:noAutofit/>
          </a:bodyPr>
          <a:lstStyle/>
          <a:p>
            <a:pPr marL="0" indent="-317500" algn="just">
              <a:lnSpc>
                <a:spcPct val="100000"/>
              </a:lnSpc>
              <a:buSzPts val="1400"/>
              <a:buFont typeface="Times New Roman"/>
              <a:buChar char="●"/>
            </a:pPr>
            <a:r>
              <a:rPr lang="en-US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Introduction </a:t>
            </a:r>
          </a:p>
          <a:p>
            <a:pPr marL="0" indent="-317500" algn="just">
              <a:lnSpc>
                <a:spcPct val="100000"/>
              </a:lnSpc>
              <a:buSzPts val="1400"/>
              <a:buFont typeface="Times New Roman"/>
              <a:buChar char="●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0" indent="-317500" algn="just">
              <a:lnSpc>
                <a:spcPct val="100000"/>
              </a:lnSpc>
              <a:buSzPts val="1400"/>
              <a:buFont typeface="Times New Roman"/>
              <a:buChar char="●"/>
            </a:pPr>
            <a:r>
              <a:rPr lang="en-US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Aims &amp; Objectives</a:t>
            </a:r>
          </a:p>
          <a:p>
            <a:pPr marL="0" indent="-317500" algn="just">
              <a:lnSpc>
                <a:spcPct val="100000"/>
              </a:lnSpc>
              <a:buSzPts val="1400"/>
              <a:buFont typeface="Times New Roman"/>
              <a:buChar char="●"/>
            </a:pPr>
            <a:r>
              <a:rPr lang="en-US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Contribution</a:t>
            </a:r>
          </a:p>
          <a:p>
            <a:pPr marL="0" indent="-317500" algn="just">
              <a:lnSpc>
                <a:spcPct val="100000"/>
              </a:lnSpc>
              <a:buSzPts val="1400"/>
              <a:buFont typeface="Times New Roman"/>
              <a:buChar char="●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 marL="0" indent="-317500" algn="just">
              <a:lnSpc>
                <a:spcPct val="100000"/>
              </a:lnSpc>
              <a:buSzPts val="1400"/>
              <a:buFont typeface="Times New Roman"/>
              <a:buChar char="●"/>
            </a:pPr>
            <a:r>
              <a:rPr lang="en-US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Methodology</a:t>
            </a:r>
          </a:p>
          <a:p>
            <a:pPr marL="0" indent="-317500" algn="just">
              <a:lnSpc>
                <a:spcPct val="100000"/>
              </a:lnSpc>
              <a:buSzPts val="1400"/>
              <a:buFont typeface="Times New Roman"/>
              <a:buChar char="●"/>
            </a:pP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Cleaning</a:t>
            </a:r>
          </a:p>
          <a:p>
            <a:pPr marL="0" indent="-317500" algn="just">
              <a:lnSpc>
                <a:spcPct val="100000"/>
              </a:lnSpc>
              <a:buSzPts val="1400"/>
              <a:buFont typeface="Times New Roman"/>
              <a:buChar char="●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</a:t>
            </a:r>
          </a:p>
          <a:p>
            <a:pPr marL="0" indent="-317500" algn="just">
              <a:lnSpc>
                <a:spcPct val="100000"/>
              </a:lnSpc>
              <a:buSzPts val="1400"/>
              <a:buFont typeface="Times New Roman"/>
              <a:buChar char="●"/>
            </a:pP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>
              <a:lnSpc>
                <a:spcPct val="100000"/>
              </a:lnSpc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77636-4766-9CB5-A6B9-F646D98C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667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800B8-20CA-D4B6-0B15-9CAB6E8FA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748"/>
            <a:ext cx="10631347" cy="879675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buSzPts val="1400"/>
            </a:pPr>
            <a:r>
              <a:rPr lang="en-US" sz="3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F4786-E97C-09F4-A1F8-A357DEF5E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9676"/>
            <a:ext cx="10515600" cy="5978324"/>
          </a:xfrm>
        </p:spPr>
        <p:txBody>
          <a:bodyPr>
            <a:noAutofit/>
          </a:bodyPr>
          <a:lstStyle/>
          <a:p>
            <a:pPr marL="457200" lvl="0" indent="-304800" algn="just">
              <a:lnSpc>
                <a:spcPct val="100000"/>
              </a:lnSpc>
              <a:spcBef>
                <a:spcPts val="0"/>
              </a:spcBef>
              <a:buSzPts val="1200"/>
              <a:buChar char="●"/>
            </a:pPr>
            <a:r>
              <a:rPr lang="en-US" sz="2400" b="1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Network Intrusion Detection System </a:t>
            </a:r>
            <a:r>
              <a:rPr lang="en-US" sz="2400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NIDS</a:t>
            </a:r>
            <a:r>
              <a:rPr lang="en-US" sz="2400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 is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 security tool that monitors network traffic for suspicious patterns, known attacks, or policy violations, and alerts administrators when a potential threat is detected</a:t>
            </a:r>
            <a:r>
              <a:rPr lang="en-US" sz="2400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457200" lvl="0" indent="-304800" algn="just">
              <a:lnSpc>
                <a:spcPct val="100000"/>
              </a:lnSpc>
              <a:spcBef>
                <a:spcPts val="0"/>
              </a:spcBef>
              <a:buClr>
                <a:srgbClr val="001D35"/>
              </a:buClr>
              <a:buSzPts val="1200"/>
              <a:buFont typeface="Times New Roman"/>
              <a:buChar char="●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Real-time monitoring and detection of threats</a:t>
            </a:r>
          </a:p>
          <a:p>
            <a:pPr marL="0" lvl="0" indent="0" algn="just">
              <a:lnSpc>
                <a:spcPct val="100000"/>
              </a:lnSpc>
              <a:spcBef>
                <a:spcPts val="1200"/>
              </a:spcBef>
              <a:buNone/>
            </a:pP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ct val="100000"/>
              </a:lnSpc>
              <a:spcBef>
                <a:spcPts val="1200"/>
              </a:spcBef>
              <a:buNone/>
            </a:pP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ct val="100000"/>
              </a:lnSpc>
              <a:spcBef>
                <a:spcPts val="1200"/>
              </a:spcBef>
              <a:buNone/>
            </a:pP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ct val="100000"/>
              </a:lnSpc>
              <a:spcBef>
                <a:spcPts val="1200"/>
              </a:spcBef>
              <a:buNone/>
            </a:pP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ct val="100000"/>
              </a:lnSpc>
              <a:spcBef>
                <a:spcPts val="1200"/>
              </a:spcBef>
              <a:buNone/>
            </a:pP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ct val="50000"/>
              </a:lnSpc>
              <a:spcBef>
                <a:spcPts val="1200"/>
              </a:spcBef>
              <a:buNone/>
            </a:pPr>
            <a:r>
              <a:rPr lang="en-US" sz="2400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Fig 01. Basic architecture of NIDS</a:t>
            </a:r>
          </a:p>
          <a:p>
            <a:pPr marL="457200" lvl="0" indent="-304800" algn="just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2400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 adds an extra layer of security to a network by providing early warnings, enabling organizations to investigate and respond to security breaches before significant damage occurs.</a:t>
            </a: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" name="Google Shape;73;p15">
            <a:extLst>
              <a:ext uri="{FF2B5EF4-FFF2-40B4-BE49-F238E27FC236}">
                <a16:creationId xmlns:a16="http://schemas.microsoft.com/office/drawing/2014/main" id="{5139870D-73D1-70EC-C851-34907668C0C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7681" y="2671010"/>
            <a:ext cx="5127585" cy="2238874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45A07-0A53-8D56-6EDB-E2471DC8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696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7753A-018E-7F91-297C-69CBB4F2E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942" y="0"/>
            <a:ext cx="11052858" cy="94912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36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C5C7EB-1C50-A737-CE63-9801601253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8002625"/>
              </p:ext>
            </p:extLst>
          </p:nvPr>
        </p:nvGraphicFramePr>
        <p:xfrm>
          <a:off x="300942" y="833378"/>
          <a:ext cx="11655706" cy="58216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17311">
                  <a:extLst>
                    <a:ext uri="{9D8B030D-6E8A-4147-A177-3AD203B41FA5}">
                      <a16:colId xmlns:a16="http://schemas.microsoft.com/office/drawing/2014/main" val="1425041245"/>
                    </a:ext>
                  </a:extLst>
                </a:gridCol>
                <a:gridCol w="2003881">
                  <a:extLst>
                    <a:ext uri="{9D8B030D-6E8A-4147-A177-3AD203B41FA5}">
                      <a16:colId xmlns:a16="http://schemas.microsoft.com/office/drawing/2014/main" val="3666676534"/>
                    </a:ext>
                  </a:extLst>
                </a:gridCol>
                <a:gridCol w="2193596">
                  <a:extLst>
                    <a:ext uri="{9D8B030D-6E8A-4147-A177-3AD203B41FA5}">
                      <a16:colId xmlns:a16="http://schemas.microsoft.com/office/drawing/2014/main" val="643301480"/>
                    </a:ext>
                  </a:extLst>
                </a:gridCol>
                <a:gridCol w="2300313">
                  <a:extLst>
                    <a:ext uri="{9D8B030D-6E8A-4147-A177-3AD203B41FA5}">
                      <a16:colId xmlns:a16="http://schemas.microsoft.com/office/drawing/2014/main" val="388198424"/>
                    </a:ext>
                  </a:extLst>
                </a:gridCol>
                <a:gridCol w="2940605">
                  <a:extLst>
                    <a:ext uri="{9D8B030D-6E8A-4147-A177-3AD203B41FA5}">
                      <a16:colId xmlns:a16="http://schemas.microsoft.com/office/drawing/2014/main" val="553180831"/>
                    </a:ext>
                  </a:extLst>
                </a:gridCol>
              </a:tblGrid>
              <a:tr h="573806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&amp;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Method/Algorithm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Performance Metric/Result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Critical Limitation or Conclusion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434084"/>
                  </a:ext>
                </a:extLst>
              </a:tr>
              <a:tr h="12826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Ali et al and Kim et al (2025)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Naïve Bayes Classifier</a:t>
                      </a:r>
                    </a:p>
                    <a:p>
                      <a:pPr marL="0" marR="0"/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augmented CIC-IDS-2017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Overall Accuracy: </a:t>
                      </a: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95.06%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Performance suffers due to the model's reliance on the assumption of feature independence, which is frequently violated in real-world network traffic.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414207"/>
                  </a:ext>
                </a:extLst>
              </a:tr>
              <a:tr h="10463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Mohammad et al, Saeed et al,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Almazroi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 et al,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Alsubaei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 et al, and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Almazroi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 et al (2024)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Simple CNN Architecture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augmented CIC-IDS-2017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Overall Accuracy: </a:t>
                      </a: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91.00%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Simple Deep Learning topologies are insufficient to handle data complexity without extensive architectural sophistication.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336719"/>
                  </a:ext>
                </a:extLst>
              </a:tr>
              <a:tr h="10463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F. D. S. B. et al. (2024)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Support Vector Machine (SVM)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Subsets of CICIDS2017 (DDoS focus)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Prediction Accuracy: </a:t>
                      </a: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95.5%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Even high-performance traditional algorithms struggle to hit the 97% mark without advanced feature engineering or ensemble integration.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696671"/>
                  </a:ext>
                </a:extLst>
              </a:tr>
              <a:tr h="12826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Zhu et al and Chen et al (2024)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Traditional AdaBoost Classification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Subsets of CICIDS2017 (DDoS focus)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Multi-class F1-Score: </a:t>
                      </a: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77.00%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The low F1-score is highly indicative of the model's failure to reliably classify minority attack types, highlighting a significant performance gap.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1228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0D861F-5EE1-6E6B-B135-19F7031B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04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66BBF-86C7-8BF2-9B7F-42CD54C59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22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Aims &amp; Objectives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E2AC9-572E-B89F-B0F7-A27C5DC4B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highly accurate and efficient IDS to detect common network attacks.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dk1"/>
              </a:solidFill>
              <a:latin typeface="Times New Roman"/>
              <a:cs typeface="Times New Roman"/>
              <a:sym typeface="Times New Roman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lvl="0" indent="0" algn="just">
              <a:spcBef>
                <a:spcPts val="0"/>
              </a:spcBef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Preprocess and analyze the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CICIDS2017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dataset. </a:t>
            </a:r>
          </a:p>
          <a:p>
            <a:pPr marL="457200" lvl="0" indent="0" algn="just">
              <a:spcBef>
                <a:spcPts val="1200"/>
              </a:spcBef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Implement Dimensionality Reduction (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</a:t>
            </a:r>
          </a:p>
          <a:p>
            <a:pPr marL="457200" lvl="0" indent="0" algn="just">
              <a:spcBef>
                <a:spcPts val="1200"/>
              </a:spcBef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Train and compare multiple ML models. </a:t>
            </a:r>
          </a:p>
          <a:p>
            <a:pPr marL="45720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Evaluate Ensemble methods for superior performance.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628E1-43A8-B7A1-CD93-53E7BA086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192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83024-A12D-DF29-8F1D-63AFA01BA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096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7E149-55EB-DF6D-9BA1-78A8ADAFE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0215"/>
            <a:ext cx="10515600" cy="474674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and prepared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CICIDS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for intrusion detection.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Performed data preprocessing and feature selection.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and compared multiple machine-learning models (LR,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KNN, RF, DT etc.).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stacking ensemble model to improve overall performance.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Applied hyperparameter tuning to further increase accuracy.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Evaluated models using accuracy, precision, recall,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-score.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Visualized results to clearly compare model performances.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the best optimized model for detecting network attacks.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E6C33-77F2-A253-3A8F-EA01EE1D8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27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DECAE-9894-B90D-77F5-7818B97B5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663"/>
            <a:ext cx="10515600" cy="73684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A1FD9-B4E8-37C3-2861-40AA254BD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6461"/>
            <a:ext cx="10515600" cy="4946041"/>
          </a:xfrm>
        </p:spPr>
        <p:txBody>
          <a:bodyPr>
            <a:normAutofit/>
          </a:bodyPr>
          <a:lstStyle/>
          <a:p>
            <a:pPr marL="457200" lvl="0" indent="-304800">
              <a:spcBef>
                <a:spcPts val="0"/>
              </a:spcBef>
              <a:buSzPts val="1200"/>
              <a:buChar char="●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Name: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CIC-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IDS2017</a:t>
            </a:r>
            <a:endParaRPr lang="en-US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just">
              <a:spcBef>
                <a:spcPts val="0"/>
              </a:spcBef>
              <a:buSzPts val="1200"/>
              <a:buChar char="●"/>
            </a:pPr>
            <a:r>
              <a:rPr lang="en-US" sz="2400" b="1" dirty="0" err="1">
                <a:solidFill>
                  <a:srgbClr val="2D2D2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CICIDS2017</a:t>
            </a:r>
            <a:r>
              <a:rPr lang="en-US" sz="2400" dirty="0">
                <a:solidFill>
                  <a:srgbClr val="2D2D2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dataset contains benign and the most up-to-date common attacks, which resembles the true real-world data. It also includes </a:t>
            </a:r>
            <a:r>
              <a:rPr lang="en-US" sz="2400" dirty="0">
                <a:solidFill>
                  <a:srgbClr val="007FA3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results of the network traffic analysis</a:t>
            </a:r>
            <a:r>
              <a:rPr lang="en-US" sz="2400" dirty="0">
                <a:solidFill>
                  <a:srgbClr val="2D2D2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using </a:t>
            </a:r>
            <a:r>
              <a:rPr lang="en-US" sz="2400" dirty="0" err="1">
                <a:solidFill>
                  <a:srgbClr val="2D2D2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CICFlowMeter</a:t>
            </a:r>
            <a:r>
              <a:rPr lang="en-US" sz="2400" dirty="0">
                <a:solidFill>
                  <a:srgbClr val="2D2D2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with labeled flows based on the time stamp, source, and destination IPs, source and destination ports, protocols and attack. </a:t>
            </a:r>
          </a:p>
          <a:p>
            <a:pPr marL="457200" lvl="0" indent="-304800" algn="just">
              <a:spcBef>
                <a:spcPts val="0"/>
              </a:spcBef>
              <a:buClr>
                <a:srgbClr val="2D2D2D"/>
              </a:buClr>
              <a:buSzPts val="1200"/>
              <a:buFont typeface="Times New Roman"/>
              <a:buChar char="●"/>
            </a:pPr>
            <a:r>
              <a:rPr lang="en-US" sz="2400" dirty="0">
                <a:solidFill>
                  <a:srgbClr val="2D2D2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Included the most common attacks based on the 2016 McAfee report, such as Web based, Brute force, DoS, DDoS, Infiltration, Heart-bleed, Bot and Scan covered in this dataset.</a:t>
            </a:r>
          </a:p>
          <a:p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897830-5968-210F-8A56-7F09F4CCA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37481"/>
              </p:ext>
            </p:extLst>
          </p:nvPr>
        </p:nvGraphicFramePr>
        <p:xfrm>
          <a:off x="2288695" y="4300948"/>
          <a:ext cx="7614610" cy="2062972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830751">
                  <a:extLst>
                    <a:ext uri="{9D8B030D-6E8A-4147-A177-3AD203B41FA5}">
                      <a16:colId xmlns:a16="http://schemas.microsoft.com/office/drawing/2014/main" val="514776742"/>
                    </a:ext>
                  </a:extLst>
                </a:gridCol>
                <a:gridCol w="3783859">
                  <a:extLst>
                    <a:ext uri="{9D8B030D-6E8A-4147-A177-3AD203B41FA5}">
                      <a16:colId xmlns:a16="http://schemas.microsoft.com/office/drawing/2014/main" val="3455843533"/>
                    </a:ext>
                  </a:extLst>
                </a:gridCol>
              </a:tblGrid>
              <a:tr h="3562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           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5732680"/>
                  </a:ext>
                </a:extLst>
              </a:tr>
              <a:tr h="42090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Row Count</a:t>
                      </a:r>
                      <a:endParaRPr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2,830,743</a:t>
                      </a:r>
                      <a:endParaRPr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3577195529"/>
                  </a:ext>
                </a:extLst>
              </a:tr>
              <a:tr h="42090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Column Count</a:t>
                      </a:r>
                      <a:endParaRPr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79</a:t>
                      </a:r>
                      <a:endPara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3781098"/>
                  </a:ext>
                </a:extLst>
              </a:tr>
              <a:tr h="42090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Problematic Values (NaN &amp; Inf)</a:t>
                      </a:r>
                      <a:endParaRPr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3,128</a:t>
                      </a:r>
                      <a:endParaRPr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439013734"/>
                  </a:ext>
                </a:extLst>
              </a:tr>
              <a:tr h="42090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Memory Usage</a:t>
                      </a:r>
                      <a:endParaRPr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~1539.53 MB</a:t>
                      </a:r>
                      <a:endParaRPr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46752031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5EBCB1-04F8-D5A1-B2F0-07496AB4C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435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0F8BAB-EFFB-B99A-C21C-68EC7A6CE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9901"/>
            <a:ext cx="10515600" cy="7686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Methodology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7D11AD8-9FCD-0388-CFD1-0BA7C1EE4E62}"/>
              </a:ext>
            </a:extLst>
          </p:cNvPr>
          <p:cNvSpPr/>
          <p:nvPr/>
        </p:nvSpPr>
        <p:spPr>
          <a:xfrm>
            <a:off x="650630" y="990530"/>
            <a:ext cx="1459524" cy="76866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CIC-IDS 2017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5AA430-CBBF-9558-9F44-B76C55DF55B7}"/>
              </a:ext>
            </a:extLst>
          </p:cNvPr>
          <p:cNvSpPr/>
          <p:nvPr/>
        </p:nvSpPr>
        <p:spPr>
          <a:xfrm>
            <a:off x="867522" y="2125230"/>
            <a:ext cx="3997568" cy="5961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 and Feature Engineering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BCE25A-98A1-F39B-E1A2-93A72DBCA97D}"/>
              </a:ext>
            </a:extLst>
          </p:cNvPr>
          <p:cNvSpPr/>
          <p:nvPr/>
        </p:nvSpPr>
        <p:spPr>
          <a:xfrm>
            <a:off x="867522" y="2848216"/>
            <a:ext cx="3997567" cy="3692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Manageable Attacks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6A3630-9D13-0D53-944B-2A92B1BC3224}"/>
              </a:ext>
            </a:extLst>
          </p:cNvPr>
          <p:cNvSpPr/>
          <p:nvPr/>
        </p:nvSpPr>
        <p:spPr>
          <a:xfrm>
            <a:off x="867522" y="3344311"/>
            <a:ext cx="3997567" cy="58877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Scalling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Normalization(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708F7A-240E-1FEE-05C8-2389AD16791B}"/>
              </a:ext>
            </a:extLst>
          </p:cNvPr>
          <p:cNvSpPr/>
          <p:nvPr/>
        </p:nvSpPr>
        <p:spPr>
          <a:xfrm>
            <a:off x="867521" y="4059908"/>
            <a:ext cx="3997568" cy="5887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Principle Component Analysis)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C6E8457-3A76-ADCB-A5B4-53890B8790E9}"/>
              </a:ext>
            </a:extLst>
          </p:cNvPr>
          <p:cNvSpPr/>
          <p:nvPr/>
        </p:nvSpPr>
        <p:spPr>
          <a:xfrm>
            <a:off x="8493748" y="2430455"/>
            <a:ext cx="2136943" cy="59616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Pre-processed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4EC46-CC7E-7CA9-E840-7DE62CD7C2C8}"/>
              </a:ext>
            </a:extLst>
          </p:cNvPr>
          <p:cNvSpPr/>
          <p:nvPr/>
        </p:nvSpPr>
        <p:spPr>
          <a:xfrm>
            <a:off x="7691295" y="3505437"/>
            <a:ext cx="3978179" cy="76866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Dataset Preparation For Classification (Hyperparameters Tunning)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B10D9F-52C2-286C-B265-E7C1A99892D5}"/>
              </a:ext>
            </a:extLst>
          </p:cNvPr>
          <p:cNvSpPr/>
          <p:nvPr/>
        </p:nvSpPr>
        <p:spPr>
          <a:xfrm>
            <a:off x="8249749" y="4742079"/>
            <a:ext cx="2856631" cy="3402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 Buildings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EAE6B3-5050-FEDB-C9C5-F54A4E4EF4DE}"/>
              </a:ext>
            </a:extLst>
          </p:cNvPr>
          <p:cNvSpPr/>
          <p:nvPr/>
        </p:nvSpPr>
        <p:spPr>
          <a:xfrm>
            <a:off x="8475776" y="5278874"/>
            <a:ext cx="649121" cy="23097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SVM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619240-4399-F055-52A6-36BF679C4F0A}"/>
              </a:ext>
            </a:extLst>
          </p:cNvPr>
          <p:cNvSpPr/>
          <p:nvPr/>
        </p:nvSpPr>
        <p:spPr>
          <a:xfrm>
            <a:off x="9300683" y="5270638"/>
            <a:ext cx="649121" cy="23920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073E3A-1713-7F9B-E69C-C7836DF56ED7}"/>
              </a:ext>
            </a:extLst>
          </p:cNvPr>
          <p:cNvSpPr/>
          <p:nvPr/>
        </p:nvSpPr>
        <p:spPr>
          <a:xfrm>
            <a:off x="10104443" y="5261156"/>
            <a:ext cx="649121" cy="24869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KNN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8B08C7-892B-1BB5-3FB6-E0F15CC21366}"/>
              </a:ext>
            </a:extLst>
          </p:cNvPr>
          <p:cNvSpPr/>
          <p:nvPr/>
        </p:nvSpPr>
        <p:spPr>
          <a:xfrm>
            <a:off x="10965669" y="5277880"/>
            <a:ext cx="649121" cy="23920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728E9A-4A32-996C-0D75-714E7FAAA081}"/>
              </a:ext>
            </a:extLst>
          </p:cNvPr>
          <p:cNvSpPr/>
          <p:nvPr/>
        </p:nvSpPr>
        <p:spPr>
          <a:xfrm>
            <a:off x="7691295" y="5278874"/>
            <a:ext cx="649121" cy="23097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E15067-EB84-9252-DE06-0EF4FDE9FBD8}"/>
              </a:ext>
            </a:extLst>
          </p:cNvPr>
          <p:cNvSpPr/>
          <p:nvPr/>
        </p:nvSpPr>
        <p:spPr>
          <a:xfrm>
            <a:off x="7691295" y="5698171"/>
            <a:ext cx="3978179" cy="67105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Ensembole</a:t>
            </a:r>
            <a:r>
              <a:rPr lang="en-US" dirty="0">
                <a:solidFill>
                  <a:schemeClr val="tx1"/>
                </a:solidFill>
              </a:rPr>
              <a:t> Models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[Voting(0.9829) &amp; Stacking(0.9835)]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9BCF5D1-DDA6-FFC2-52CB-73768E38AECF}"/>
              </a:ext>
            </a:extLst>
          </p:cNvPr>
          <p:cNvCxnSpPr>
            <a:stCxn id="5" idx="6"/>
            <a:endCxn id="6" idx="0"/>
          </p:cNvCxnSpPr>
          <p:nvPr/>
        </p:nvCxnSpPr>
        <p:spPr>
          <a:xfrm>
            <a:off x="2110154" y="1374861"/>
            <a:ext cx="756152" cy="75036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E42D76E-5432-4214-7159-9F4661220C3B}"/>
              </a:ext>
            </a:extLst>
          </p:cNvPr>
          <p:cNvCxnSpPr>
            <a:stCxn id="10" idx="4"/>
          </p:cNvCxnSpPr>
          <p:nvPr/>
        </p:nvCxnSpPr>
        <p:spPr>
          <a:xfrm>
            <a:off x="9562220" y="3026623"/>
            <a:ext cx="9567" cy="467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E3155F9-C3DE-4469-83B9-DC6B5E173CFE}"/>
              </a:ext>
            </a:extLst>
          </p:cNvPr>
          <p:cNvCxnSpPr>
            <a:stCxn id="6" idx="1"/>
          </p:cNvCxnSpPr>
          <p:nvPr/>
        </p:nvCxnSpPr>
        <p:spPr>
          <a:xfrm rot="10800000" flipV="1">
            <a:off x="650630" y="2423313"/>
            <a:ext cx="216892" cy="2500379"/>
          </a:xfrm>
          <a:prstGeom prst="bentConnector2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0A4B04D-F9BD-12F9-3EB9-0A28873EA585}"/>
              </a:ext>
            </a:extLst>
          </p:cNvPr>
          <p:cNvCxnSpPr>
            <a:endCxn id="6" idx="3"/>
          </p:cNvCxnSpPr>
          <p:nvPr/>
        </p:nvCxnSpPr>
        <p:spPr>
          <a:xfrm flipV="1">
            <a:off x="650630" y="2423314"/>
            <a:ext cx="4214460" cy="2523825"/>
          </a:xfrm>
          <a:prstGeom prst="bentConnector3">
            <a:avLst>
              <a:gd name="adj1" fmla="val 105424"/>
            </a:avLst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EAF855-88FA-5581-CE86-B342A5677316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 flipH="1">
            <a:off x="9678065" y="4274099"/>
            <a:ext cx="2320" cy="467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B22B4935-AB9B-3B1F-E789-D3E2BA1FC366}"/>
              </a:ext>
            </a:extLst>
          </p:cNvPr>
          <p:cNvCxnSpPr>
            <a:stCxn id="12" idx="1"/>
          </p:cNvCxnSpPr>
          <p:nvPr/>
        </p:nvCxnSpPr>
        <p:spPr>
          <a:xfrm rot="10800000" flipV="1">
            <a:off x="7315199" y="4912197"/>
            <a:ext cx="934550" cy="1687896"/>
          </a:xfrm>
          <a:prstGeom prst="bentConnector2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2E7A8DA7-AD5F-1ECD-77BC-223243596687}"/>
              </a:ext>
            </a:extLst>
          </p:cNvPr>
          <p:cNvCxnSpPr>
            <a:stCxn id="12" idx="3"/>
          </p:cNvCxnSpPr>
          <p:nvPr/>
        </p:nvCxnSpPr>
        <p:spPr>
          <a:xfrm>
            <a:off x="11106380" y="4912197"/>
            <a:ext cx="827711" cy="1680395"/>
          </a:xfrm>
          <a:prstGeom prst="bentConnector2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B392035-5BA6-DD8A-6622-B5988F45EA7F}"/>
              </a:ext>
            </a:extLst>
          </p:cNvPr>
          <p:cNvCxnSpPr/>
          <p:nvPr/>
        </p:nvCxnSpPr>
        <p:spPr>
          <a:xfrm flipH="1">
            <a:off x="7315198" y="6600094"/>
            <a:ext cx="461889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C21BDB8-0D94-9692-A0CE-062241802562}"/>
              </a:ext>
            </a:extLst>
          </p:cNvPr>
          <p:cNvSpPr/>
          <p:nvPr/>
        </p:nvSpPr>
        <p:spPr>
          <a:xfrm>
            <a:off x="3933580" y="5517089"/>
            <a:ext cx="2725603" cy="768662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Tuned Model (0.9918)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34079C1-72E4-8F25-07A5-55FC266BA86A}"/>
              </a:ext>
            </a:extLst>
          </p:cNvPr>
          <p:cNvCxnSpPr>
            <a:cxnSpLocks/>
            <a:endCxn id="27" idx="3"/>
          </p:cNvCxnSpPr>
          <p:nvPr/>
        </p:nvCxnSpPr>
        <p:spPr>
          <a:xfrm flipH="1">
            <a:off x="6659183" y="5896469"/>
            <a:ext cx="656015" cy="4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C8041AB-1EF7-06A3-7FB6-A3C417E5615A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5076092" y="2721398"/>
            <a:ext cx="3417656" cy="7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17C6EBF-30CF-405C-4DF1-A8540F6D3CF8}"/>
              </a:ext>
            </a:extLst>
          </p:cNvPr>
          <p:cNvSpPr/>
          <p:nvPr/>
        </p:nvSpPr>
        <p:spPr>
          <a:xfrm>
            <a:off x="451713" y="5512138"/>
            <a:ext cx="2725603" cy="7686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Prediction and Evaluation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B01B3D9-F6A2-75BF-0706-257FD34DDB58}"/>
              </a:ext>
            </a:extLst>
          </p:cNvPr>
          <p:cNvCxnSpPr>
            <a:stCxn id="27" idx="1"/>
            <a:endCxn id="30" idx="3"/>
          </p:cNvCxnSpPr>
          <p:nvPr/>
        </p:nvCxnSpPr>
        <p:spPr>
          <a:xfrm flipH="1" flipV="1">
            <a:off x="3177316" y="5896469"/>
            <a:ext cx="756264" cy="4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762130-3E57-CEE8-23EB-0F033405D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39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91EC-08E4-0BA6-64A0-34851350C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Cleaning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7A75AA5-D631-9BFE-D40A-7C9244BC2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985773"/>
              </p:ext>
            </p:extLst>
          </p:nvPr>
        </p:nvGraphicFramePr>
        <p:xfrm>
          <a:off x="1484922" y="1831929"/>
          <a:ext cx="9222156" cy="393177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125786">
                  <a:extLst>
                    <a:ext uri="{9D8B030D-6E8A-4147-A177-3AD203B41FA5}">
                      <a16:colId xmlns:a16="http://schemas.microsoft.com/office/drawing/2014/main" val="2557975203"/>
                    </a:ext>
                  </a:extLst>
                </a:gridCol>
                <a:gridCol w="2239107">
                  <a:extLst>
                    <a:ext uri="{9D8B030D-6E8A-4147-A177-3AD203B41FA5}">
                      <a16:colId xmlns:a16="http://schemas.microsoft.com/office/drawing/2014/main" val="719326585"/>
                    </a:ext>
                  </a:extLst>
                </a:gridCol>
                <a:gridCol w="2696308">
                  <a:extLst>
                    <a:ext uri="{9D8B030D-6E8A-4147-A177-3AD203B41FA5}">
                      <a16:colId xmlns:a16="http://schemas.microsoft.com/office/drawing/2014/main" val="3568692430"/>
                    </a:ext>
                  </a:extLst>
                </a:gridCol>
                <a:gridCol w="2160955">
                  <a:extLst>
                    <a:ext uri="{9D8B030D-6E8A-4147-A177-3AD203B41FA5}">
                      <a16:colId xmlns:a16="http://schemas.microsoft.com/office/drawing/2014/main" val="14548191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Metric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Before Cleaning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Operation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After Cleaning &amp; Optimization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472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Row Count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2,830,743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Removing Duplicates (</a:t>
                      </a:r>
                      <a:r>
                        <a:rPr lang="e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308,381</a:t>
                      </a:r>
                      <a:r>
                        <a:rPr lang="en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)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2,522,362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3073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Column Count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79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Removing Useless Columns</a:t>
                      </a:r>
                      <a:endParaRPr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(8 zero variation columns)</a:t>
                      </a:r>
                      <a:endParaRPr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71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032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Problematic Values (NaN &amp; Inf)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3,128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Filling the Gaps with Median Imputation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391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Memory Usage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~1539.53 MB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Downcasting </a:t>
                      </a:r>
                      <a:endParaRPr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(47.50% reduction)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~808.25 MB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58427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DBADDA-E2F0-1408-E711-9BEDC20A6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35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14D81-D6EC-73B5-A14F-D2483287B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118"/>
            <a:ext cx="10515600" cy="692389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</a:t>
            </a:r>
            <a:endParaRPr lang="en-US" sz="3600" b="1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73FA60F-E655-8A41-AFC1-A9C3799ECD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8333398"/>
              </p:ext>
            </p:extLst>
          </p:nvPr>
        </p:nvGraphicFramePr>
        <p:xfrm>
          <a:off x="838200" y="1514080"/>
          <a:ext cx="10515600" cy="4932696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619377">
                  <a:extLst>
                    <a:ext uri="{9D8B030D-6E8A-4147-A177-3AD203B41FA5}">
                      <a16:colId xmlns:a16="http://schemas.microsoft.com/office/drawing/2014/main" val="3426713216"/>
                    </a:ext>
                  </a:extLst>
                </a:gridCol>
                <a:gridCol w="3985265">
                  <a:extLst>
                    <a:ext uri="{9D8B030D-6E8A-4147-A177-3AD203B41FA5}">
                      <a16:colId xmlns:a16="http://schemas.microsoft.com/office/drawing/2014/main" val="1612456697"/>
                    </a:ext>
                  </a:extLst>
                </a:gridCol>
                <a:gridCol w="3910958">
                  <a:extLst>
                    <a:ext uri="{9D8B030D-6E8A-4147-A177-3AD203B41FA5}">
                      <a16:colId xmlns:a16="http://schemas.microsoft.com/office/drawing/2014/main" val="158874828"/>
                    </a:ext>
                  </a:extLst>
                </a:gridCol>
              </a:tblGrid>
              <a:tr h="33342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985" marR="95985" marT="63990" marB="6399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985" marR="95985" marT="63990" marB="6399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Value/Result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985" marR="95985" marT="63990" marB="63990" anchor="ctr"/>
                </a:tc>
                <a:extLst>
                  <a:ext uri="{0D108BD9-81ED-4DB2-BD59-A6C34878D82A}">
                    <a16:rowId xmlns:a16="http://schemas.microsoft.com/office/drawing/2014/main" val="4213490219"/>
                  </a:ext>
                </a:extLst>
              </a:tr>
              <a:tr h="98941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985" marR="95985" marT="63990" marB="639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Variation of Principal Component Analysis (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PCA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used for feature reduction.</a:t>
                      </a:r>
                    </a:p>
                  </a:txBody>
                  <a:tcPr marL="95985" marR="95985" marT="63990" marB="639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IncrementalPCA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985" marR="95985" marT="63990" marB="63990" anchor="ctr"/>
                </a:tc>
                <a:extLst>
                  <a:ext uri="{0D108BD9-81ED-4DB2-BD59-A6C34878D82A}">
                    <a16:rowId xmlns:a16="http://schemas.microsoft.com/office/drawing/2014/main" val="3502578979"/>
                  </a:ext>
                </a:extLst>
              </a:tr>
              <a:tr h="55209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Data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985" marR="95985" marT="63990" marB="639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High-dimensional network traffic data.</a:t>
                      </a:r>
                    </a:p>
                  </a:txBody>
                  <a:tcPr marL="95985" marR="95985" marT="63990" marB="639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 original features</a:t>
                      </a:r>
                    </a:p>
                  </a:txBody>
                  <a:tcPr marL="95985" marR="95985" marT="63990" marB="63990" anchor="ctr"/>
                </a:tc>
                <a:extLst>
                  <a:ext uri="{0D108BD9-81ED-4DB2-BD59-A6C34878D82A}">
                    <a16:rowId xmlns:a16="http://schemas.microsoft.com/office/drawing/2014/main" val="1778563871"/>
                  </a:ext>
                </a:extLst>
              </a:tr>
              <a:tr h="77075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Dimensionality Target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985" marR="95985" marT="63990" marB="639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components chosen for reduction.</a:t>
                      </a:r>
                    </a:p>
                  </a:txBody>
                  <a:tcPr marL="95985" marR="95985" marT="63990" marB="639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Half the original features (71 / 2)</a:t>
                      </a:r>
                    </a:p>
                  </a:txBody>
                  <a:tcPr marL="95985" marR="95985" marT="63990" marB="63990" anchor="ctr"/>
                </a:tc>
                <a:extLst>
                  <a:ext uri="{0D108BD9-81ED-4DB2-BD59-A6C34878D82A}">
                    <a16:rowId xmlns:a16="http://schemas.microsoft.com/office/drawing/2014/main" val="2580519105"/>
                  </a:ext>
                </a:extLst>
              </a:tr>
              <a:tr h="55209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Components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985" marR="95985" marT="63990" marB="639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resulting number of principal components.</a:t>
                      </a:r>
                    </a:p>
                  </a:txBody>
                  <a:tcPr marL="95985" marR="95985" marT="63990" marB="639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 principal components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985" marR="95985" marT="63990" marB="63990" anchor="ctr"/>
                </a:tc>
                <a:extLst>
                  <a:ext uri="{0D108BD9-81ED-4DB2-BD59-A6C34878D82A}">
                    <a16:rowId xmlns:a16="http://schemas.microsoft.com/office/drawing/2014/main" val="302253524"/>
                  </a:ext>
                </a:extLst>
              </a:tr>
              <a:tr h="77075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 Size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985" marR="95985" marT="63990" marB="639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of the batches used to train the model incrementally.</a:t>
                      </a:r>
                    </a:p>
                  </a:txBody>
                  <a:tcPr marL="95985" marR="95985" marT="63990" marB="639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marL="95985" marR="95985" marT="63990" marB="63990" anchor="ctr"/>
                </a:tc>
                <a:extLst>
                  <a:ext uri="{0D108BD9-81ED-4DB2-BD59-A6C34878D82A}">
                    <a16:rowId xmlns:a16="http://schemas.microsoft.com/office/drawing/2014/main" val="1091904184"/>
                  </a:ext>
                </a:extLst>
              </a:tr>
              <a:tr h="77075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Data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985" marR="95985" marT="63990" marB="639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transformed data structure containing the new features.</a:t>
                      </a:r>
                    </a:p>
                  </a:txBody>
                  <a:tcPr marL="95985" marR="95985" marT="63990" marB="639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DataFrame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new_data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with columns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PC1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PC2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..., up to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PC35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985" marR="95985" marT="63990" marB="63990" anchor="ctr"/>
                </a:tc>
                <a:extLst>
                  <a:ext uri="{0D108BD9-81ED-4DB2-BD59-A6C34878D82A}">
                    <a16:rowId xmlns:a16="http://schemas.microsoft.com/office/drawing/2014/main" val="2622486066"/>
                  </a:ext>
                </a:extLst>
              </a:tr>
            </a:tbl>
          </a:graphicData>
        </a:graphic>
      </p:graphicFrame>
      <p:sp>
        <p:nvSpPr>
          <p:cNvPr id="6" name="Google Shape;116;p21">
            <a:extLst>
              <a:ext uri="{FF2B5EF4-FFF2-40B4-BE49-F238E27FC236}">
                <a16:creationId xmlns:a16="http://schemas.microsoft.com/office/drawing/2014/main" id="{5F3C023C-397F-4436-12F4-C4D109E14001}"/>
              </a:ext>
            </a:extLst>
          </p:cNvPr>
          <p:cNvSpPr txBox="1">
            <a:spLocks/>
          </p:cNvSpPr>
          <p:nvPr/>
        </p:nvSpPr>
        <p:spPr>
          <a:xfrm>
            <a:off x="838200" y="826678"/>
            <a:ext cx="10352315" cy="88669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D15AD8-BAF3-D917-D293-9DE4A7BD8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917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44F26-C009-D4DA-87A0-41DBC3C31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305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 (Continue..)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212E1-F64C-AC77-BD8B-544A9ED4B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2382"/>
            <a:ext cx="10515600" cy="421481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Table: Label Transformation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8139C5-2645-B3F1-4477-929836F3608B}"/>
              </a:ext>
            </a:extLst>
          </p:cNvPr>
          <p:cNvSpPr/>
          <p:nvPr/>
        </p:nvSpPr>
        <p:spPr>
          <a:xfrm>
            <a:off x="838200" y="1078524"/>
            <a:ext cx="4057650" cy="4214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sz="2000" dirty="0">
                <a:solidFill>
                  <a:srgbClr val="1B1C1D"/>
                </a:solidFill>
                <a:highlight>
                  <a:schemeClr val="lt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 for Classification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6B92FB4-02C5-9A49-E1E2-CBA274BAA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615358"/>
              </p:ext>
            </p:extLst>
          </p:nvPr>
        </p:nvGraphicFramePr>
        <p:xfrm>
          <a:off x="838200" y="2450124"/>
          <a:ext cx="10515600" cy="355639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32538">
                  <a:extLst>
                    <a:ext uri="{9D8B030D-6E8A-4147-A177-3AD203B41FA5}">
                      <a16:colId xmlns:a16="http://schemas.microsoft.com/office/drawing/2014/main" val="4264434260"/>
                    </a:ext>
                  </a:extLst>
                </a:gridCol>
                <a:gridCol w="2555631">
                  <a:extLst>
                    <a:ext uri="{9D8B030D-6E8A-4147-A177-3AD203B41FA5}">
                      <a16:colId xmlns:a16="http://schemas.microsoft.com/office/drawing/2014/main" val="764808498"/>
                    </a:ext>
                  </a:extLst>
                </a:gridCol>
                <a:gridCol w="2898531">
                  <a:extLst>
                    <a:ext uri="{9D8B030D-6E8A-4147-A177-3AD203B41FA5}">
                      <a16:colId xmlns:a16="http://schemas.microsoft.com/office/drawing/2014/main" val="390114013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83082289"/>
                    </a:ext>
                  </a:extLst>
                </a:gridCol>
              </a:tblGrid>
              <a:tr h="438294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Classification Type</a:t>
                      </a:r>
                      <a:endParaRPr sz="1800" b="1" dirty="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Purpose</a:t>
                      </a:r>
                      <a:endParaRPr sz="1800" b="1" dirty="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Label Transformation</a:t>
                      </a:r>
                      <a:endParaRPr sz="1800" b="1" dirty="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Resulting Classes</a:t>
                      </a:r>
                      <a:endParaRPr sz="1800" b="1" dirty="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9213870"/>
                  </a:ext>
                </a:extLst>
              </a:tr>
              <a:tr h="1077496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Binary Classification</a:t>
                      </a:r>
                      <a:endParaRPr sz="18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To determine if traffic is malicious or not.</a:t>
                      </a:r>
                      <a:endParaRPr sz="1800" dirty="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All attack labels (DoS, DDoS, PortScan, etc.) are mapped to </a:t>
                      </a:r>
                      <a:r>
                        <a:rPr lang="en" sz="1800" dirty="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1</a:t>
                      </a:r>
                      <a:r>
                        <a:rPr lang="en" sz="1800" dirty="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 (Attack).</a:t>
                      </a:r>
                      <a:endParaRPr sz="1800" dirty="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2 Classes: </a:t>
                      </a:r>
                      <a:r>
                        <a:rPr lang="en" sz="18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</a:t>
                      </a:r>
                      <a:r>
                        <a:rPr lang="en" sz="18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 (BENIGN) and </a:t>
                      </a:r>
                      <a:r>
                        <a:rPr lang="en" sz="18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1</a:t>
                      </a:r>
                      <a:r>
                        <a:rPr lang="en" sz="18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 (ATTACK).</a:t>
                      </a:r>
                      <a:endParaRPr sz="18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106703"/>
                  </a:ext>
                </a:extLst>
              </a:tr>
              <a:tr h="2036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Multi-Class Classification</a:t>
                      </a:r>
                      <a:endParaRPr sz="18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To identify the specific type of attack.</a:t>
                      </a:r>
                      <a:endParaRPr sz="1800" dirty="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Attack labels are mapped to their respective broader categories (e.g., 'DoS', 'Web Attack', 'Port Scan').</a:t>
                      </a:r>
                      <a:endParaRPr sz="1800" dirty="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Multiple Classes: BENIGN + Specific Attack Categories.</a:t>
                      </a:r>
                      <a:endParaRPr sz="1800" dirty="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208209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0EC037-5B31-9983-740F-24DC8C2AE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626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AA7AE4D-917F-C013-4EE5-DB3B25921C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9790180"/>
              </p:ext>
            </p:extLst>
          </p:nvPr>
        </p:nvGraphicFramePr>
        <p:xfrm>
          <a:off x="838200" y="2872740"/>
          <a:ext cx="10515600" cy="2274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1524831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8544186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906304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59219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</a:t>
                      </a:r>
                      <a:endParaRPr sz="1800" b="1" dirty="0">
                        <a:solidFill>
                          <a:srgbClr val="1B1C1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Samples (Example)</a:t>
                      </a:r>
                      <a:endParaRPr sz="1800" b="1" dirty="0">
                        <a:solidFill>
                          <a:srgbClr val="1B1C1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 Distribution (Example)</a:t>
                      </a:r>
                      <a:endParaRPr sz="1800" b="1">
                        <a:solidFill>
                          <a:srgbClr val="1B1C1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 Split</a:t>
                      </a:r>
                      <a:endParaRPr sz="1800" b="1">
                        <a:solidFill>
                          <a:srgbClr val="1B1C1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3106942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Binary</a:t>
                      </a:r>
                      <a:endParaRPr sz="1800" b="1" dirty="0">
                        <a:solidFill>
                          <a:srgbClr val="1B1C1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~15,000</a:t>
                      </a:r>
                      <a:endParaRPr sz="1800" dirty="0">
                        <a:solidFill>
                          <a:srgbClr val="1B1C1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50% BENIGN, 50% ATTACK</a:t>
                      </a:r>
                      <a:endParaRPr sz="1800" dirty="0">
                        <a:solidFill>
                          <a:srgbClr val="1B1C1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75% Train, 25% Test</a:t>
                      </a:r>
                      <a:endParaRPr sz="1800" dirty="0">
                        <a:solidFill>
                          <a:srgbClr val="1B1C1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2819185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Multi-Class</a:t>
                      </a:r>
                      <a:endParaRPr sz="1800" b="1">
                        <a:solidFill>
                          <a:srgbClr val="1B1C1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~35,000</a:t>
                      </a:r>
                      <a:endParaRPr sz="1800">
                        <a:solidFill>
                          <a:srgbClr val="1B1C1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Equal distribution across 7+ classes</a:t>
                      </a:r>
                      <a:endParaRPr sz="1800" dirty="0">
                        <a:solidFill>
                          <a:srgbClr val="1B1C1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75% Train, 25% Test</a:t>
                      </a:r>
                      <a:endParaRPr sz="1800" dirty="0">
                        <a:solidFill>
                          <a:srgbClr val="1B1C1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2890483301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61D26FFA-6B98-C65A-E1B8-0F61E8B1C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822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 (Continue..)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9CC3A0-DAA1-D2AA-1B89-7550315C6FF6}"/>
              </a:ext>
            </a:extLst>
          </p:cNvPr>
          <p:cNvSpPr/>
          <p:nvPr/>
        </p:nvSpPr>
        <p:spPr>
          <a:xfrm>
            <a:off x="838200" y="1233262"/>
            <a:ext cx="4057650" cy="4214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sz="2000" dirty="0">
                <a:solidFill>
                  <a:srgbClr val="1B1C1D"/>
                </a:solidFill>
                <a:highlight>
                  <a:schemeClr val="lt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 for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72D4ED-1F4D-7906-1DBD-3BAC419C85E7}"/>
              </a:ext>
            </a:extLst>
          </p:cNvPr>
          <p:cNvSpPr txBox="1"/>
          <p:nvPr/>
        </p:nvSpPr>
        <p:spPr>
          <a:xfrm>
            <a:off x="3048000" y="189133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Table: Data Balancing and Splitting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4DFCAD-66DF-58F0-0E7F-096B85B4A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6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BF586-0154-583E-F62B-0BD042CF6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446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(LR)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Two variations of Logistic Regression were trained: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LR Results:</a:t>
            </a:r>
            <a:r>
              <a:rPr lang="en-US" sz="24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LR Model 2 showed a slightly better mean CV score (0.93).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D369E40-BB7C-2B62-6E67-C634A399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997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 (Continue..)</a:t>
            </a:r>
            <a:endParaRPr lang="en-US" sz="3600" dirty="0"/>
          </a:p>
        </p:txBody>
      </p:sp>
      <p:sp>
        <p:nvSpPr>
          <p:cNvPr id="5" name="Google Shape;140;p24">
            <a:extLst>
              <a:ext uri="{FF2B5EF4-FFF2-40B4-BE49-F238E27FC236}">
                <a16:creationId xmlns:a16="http://schemas.microsoft.com/office/drawing/2014/main" id="{2200BCE2-18AC-B4C7-ED3B-E3776DC59B0C}"/>
              </a:ext>
            </a:extLst>
          </p:cNvPr>
          <p:cNvSpPr txBox="1">
            <a:spLocks/>
          </p:cNvSpPr>
          <p:nvPr/>
        </p:nvSpPr>
        <p:spPr>
          <a:xfrm>
            <a:off x="838200" y="1089523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 &amp; Training (Binary)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D389DE4-BB16-E92C-5952-040D63065C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246840"/>
              </p:ext>
            </p:extLst>
          </p:nvPr>
        </p:nvGraphicFramePr>
        <p:xfrm>
          <a:off x="838200" y="3173567"/>
          <a:ext cx="10515600" cy="219447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151659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637368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531362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10150689"/>
                    </a:ext>
                  </a:extLst>
                </a:gridCol>
              </a:tblGrid>
              <a:tr h="6928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Model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Parameters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Mean Cross-Validation Score (5-fold)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Key Configuration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22164328"/>
                  </a:ext>
                </a:extLst>
              </a:tr>
              <a:tr h="6928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LR Model 1 (</a:t>
                      </a:r>
                      <a:r>
                        <a:rPr lang="en" sz="1800" b="1" dirty="0">
                          <a:solidFill>
                            <a:srgbClr val="282A2C"/>
                          </a:solidFill>
                          <a:highlight>
                            <a:srgbClr val="C4C7C5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lr1</a:t>
                      </a: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)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FF0000"/>
                          </a:solidFill>
                          <a:highlight>
                            <a:schemeClr val="lt1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max_iter = 10000</a:t>
                      </a: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, C=0.1, </a:t>
                      </a:r>
                      <a:r>
                        <a:rPr lang="en" sz="1800" b="1" dirty="0">
                          <a:solidFill>
                            <a:srgbClr val="FF0000"/>
                          </a:solidFill>
                          <a:highlight>
                            <a:schemeClr val="lt1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solver = 'saga'</a:t>
                      </a:r>
                      <a:endParaRPr sz="1800" b="1" dirty="0">
                        <a:solidFill>
                          <a:srgbClr val="FF0000"/>
                        </a:solidFill>
                        <a:highlight>
                          <a:schemeClr val="lt1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0.92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Lower regularization (C=0.1).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3960186079"/>
                  </a:ext>
                </a:extLst>
              </a:tr>
              <a:tr h="6928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LR Model 2 (</a:t>
                      </a:r>
                      <a:r>
                        <a:rPr lang="en" sz="1800" b="1">
                          <a:solidFill>
                            <a:srgbClr val="282A2C"/>
                          </a:solidFill>
                          <a:highlight>
                            <a:srgbClr val="C4C7C5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lr2</a:t>
                      </a: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)</a:t>
                      </a:r>
                      <a:endParaRPr sz="1800" b="1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FF0000"/>
                          </a:solidFill>
                          <a:highlight>
                            <a:schemeClr val="lt1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max_iter = 15000</a:t>
                      </a: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, C=100, </a:t>
                      </a:r>
                      <a:r>
                        <a:rPr lang="en" sz="1800" b="1" dirty="0">
                          <a:solidFill>
                            <a:srgbClr val="FF0000"/>
                          </a:solidFill>
                          <a:highlight>
                            <a:schemeClr val="lt1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solver = 'sag'</a:t>
                      </a:r>
                      <a:endParaRPr sz="1800" b="1" dirty="0">
                        <a:solidFill>
                          <a:srgbClr val="FF0000"/>
                        </a:solidFill>
                        <a:highlight>
                          <a:schemeClr val="lt1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0.93</a:t>
                      </a:r>
                      <a:endParaRPr sz="1800" b="1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Higher regularization (C=100).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3712965284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E9208F-4012-83C2-BD6D-4E84059B7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41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ADDE2-51FF-F12F-8778-76D80E8FC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5416"/>
            <a:ext cx="10515600" cy="4559178"/>
          </a:xfrm>
        </p:spPr>
        <p:txBody>
          <a:bodyPr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</a:t>
            </a:r>
            <a:r>
              <a:rPr lang="en-US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solidFill>
                <a:srgbClr val="0000FF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en-US" sz="2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Two variations of the Support Vector Classifier (</a:t>
            </a:r>
            <a:r>
              <a:rPr lang="en-US" sz="2400" dirty="0">
                <a:highlight>
                  <a:srgbClr val="C4C7C5"/>
                </a:highlight>
                <a:latin typeface="Times New Roman" panose="02020603050405020304" pitchFamily="18" charset="0"/>
                <a:ea typeface="Roboto Mono"/>
                <a:cs typeface="Times New Roman" panose="02020603050405020304" pitchFamily="18" charset="0"/>
                <a:sym typeface="Roboto Mono"/>
              </a:rPr>
              <a:t>SVC</a:t>
            </a:r>
            <a:r>
              <a:rPr lang="en-US" sz="2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 were trained: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endParaRPr lang="en-US" sz="24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endParaRPr lang="en-US" sz="2400" b="1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b="1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lang="en-US" sz="24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Results:</a:t>
            </a:r>
            <a:r>
              <a:rPr lang="en-US" sz="2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lang="en-US" sz="2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Model 2, utilizing the RBF kernel, was the clear winner among the </a:t>
            </a:r>
            <a:r>
              <a:rPr lang="en-US" sz="2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lang="en-US" sz="2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tests, achieving a mean CV score of </a:t>
            </a:r>
            <a:r>
              <a:rPr lang="en-US" sz="24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0.96</a:t>
            </a:r>
            <a:r>
              <a:rPr lang="en-US" sz="2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3606542-8DBD-E62E-A055-09AB27C1E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029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 (Continue..)</a:t>
            </a:r>
            <a:endParaRPr lang="en-US" sz="3600" dirty="0"/>
          </a:p>
        </p:txBody>
      </p:sp>
      <p:graphicFrame>
        <p:nvGraphicFramePr>
          <p:cNvPr id="150" name="Google Shape;150;p25"/>
          <p:cNvGraphicFramePr/>
          <p:nvPr>
            <p:extLst>
              <p:ext uri="{D42A27DB-BD31-4B8C-83A1-F6EECF244321}">
                <p14:modId xmlns:p14="http://schemas.microsoft.com/office/powerpoint/2010/main" val="890941388"/>
              </p:ext>
            </p:extLst>
          </p:nvPr>
        </p:nvGraphicFramePr>
        <p:xfrm>
          <a:off x="1019907" y="2480897"/>
          <a:ext cx="10152185" cy="235652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92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4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7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8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Parameters</a:t>
                      </a:r>
                      <a:endParaRPr sz="1800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 Cross-Validation Score (5-fold)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Configuration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SVM Model 1            (</a:t>
                      </a:r>
                      <a:r>
                        <a:rPr lang="en" sz="1800" b="1">
                          <a:solidFill>
                            <a:srgbClr val="282A2C"/>
                          </a:solidFill>
                          <a:highlight>
                            <a:srgbClr val="C4C7C5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svm1</a:t>
                      </a: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800" b="1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kernel</a:t>
                      </a:r>
                      <a:r>
                        <a:rPr lang="en" sz="1800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′poly′</a:t>
                      </a:r>
                      <a:r>
                        <a:rPr lang="en" sz="1800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" sz="1800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" sz="1800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endParaRPr sz="1800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FF0000"/>
                          </a:solidFill>
                          <a:highlight>
                            <a:schemeClr val="lt1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probability = True</a:t>
                      </a:r>
                      <a:endParaRPr sz="1800" dirty="0">
                        <a:solidFill>
                          <a:srgbClr val="FF0000"/>
                        </a:solidFill>
                        <a:highlight>
                          <a:schemeClr val="lt1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0.90</a:t>
                      </a:r>
                      <a:endParaRPr sz="1800" b="1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Polynomial kernel.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SVM Model 2 (</a:t>
                      </a:r>
                      <a:r>
                        <a:rPr lang="en" sz="1800" b="1">
                          <a:solidFill>
                            <a:srgbClr val="282A2C"/>
                          </a:solidFill>
                          <a:highlight>
                            <a:srgbClr val="C4C7C5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svm2</a:t>
                      </a: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800" b="1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kernel</a:t>
                      </a: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′rbf′</a:t>
                      </a: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gamma</a:t>
                      </a: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</a:t>
                      </a: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" sz="1800">
                          <a:solidFill>
                            <a:srgbClr val="FF0000"/>
                          </a:solidFill>
                          <a:highlight>
                            <a:schemeClr val="lt1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probability = True</a:t>
                      </a:r>
                      <a:endParaRPr sz="1800">
                        <a:solidFill>
                          <a:srgbClr val="FF0000"/>
                        </a:solidFill>
                        <a:highlight>
                          <a:schemeClr val="lt1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</a:t>
                      </a:r>
                      <a:endParaRPr sz="1800" b="1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Radial Basis Function (RBF) kernel.</a:t>
                      </a:r>
                      <a:endParaRPr sz="1800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5BE68E-9EA8-9AEF-17F6-B5B4B6FC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786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118F7F-8AF9-8AA1-4ED8-BF65400CA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5331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 (Continue..)</a:t>
            </a:r>
            <a:endParaRPr lang="en-US" sz="36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DF0F56E-6F70-0501-D5E8-35073773F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662" y="1383322"/>
            <a:ext cx="10902461" cy="5275385"/>
          </a:xfrm>
        </p:spPr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Final Binary Model Comparison</a:t>
            </a:r>
            <a:endParaRPr lang="en-US" sz="24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1200"/>
              </a:spcBef>
              <a:buNone/>
            </a:pPr>
            <a:endParaRPr lang="en-US" sz="24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1200"/>
              </a:spcBef>
              <a:buNone/>
            </a:pPr>
            <a:endParaRPr lang="en-US" sz="24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1200"/>
              </a:spcBef>
              <a:buNone/>
            </a:pPr>
            <a:endParaRPr lang="en-US" sz="24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1200"/>
              </a:spcBef>
              <a:buNone/>
            </a:pPr>
            <a:endParaRPr lang="en-US" sz="24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1200"/>
              </a:spcBef>
              <a:buNone/>
            </a:pPr>
            <a:endParaRPr lang="en-US" sz="24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1200"/>
              </a:spcBef>
              <a:buNone/>
            </a:pPr>
            <a:endParaRPr lang="en-US" sz="24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en-US" sz="24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Comparing the best model from each algorithm (LR Model 2 vs. </a:t>
            </a:r>
            <a:r>
              <a:rPr lang="en-US" sz="2400" dirty="0" err="1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SVM</a:t>
            </a:r>
            <a:r>
              <a:rPr lang="en-US" sz="24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Model 2), the </a:t>
            </a:r>
            <a:r>
              <a:rPr lang="en-US" sz="2400" dirty="0" err="1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SVM</a:t>
            </a:r>
            <a:r>
              <a:rPr lang="en-US" sz="24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Model 2 demonstrated superior performance. For instance, </a:t>
            </a:r>
            <a:r>
              <a:rPr lang="en-US" sz="2400" dirty="0" err="1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SVM</a:t>
            </a:r>
            <a:r>
              <a:rPr lang="en-US" sz="24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Model 2 correctly classified 1,822 instances of BENIGN (Class 0) and 1,847 instances of Intrusion (Class 1) in the </a:t>
            </a:r>
            <a:r>
              <a:rPr lang="en-US" sz="2400" b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test set (25% / 3</a:t>
            </a:r>
            <a:r>
              <a:rPr lang="en-US" sz="24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</a:t>
            </a:r>
            <a:r>
              <a:rPr lang="en-US" sz="2400" b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750</a:t>
            </a:r>
            <a:r>
              <a:rPr lang="en-US" sz="24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entries</a:t>
            </a:r>
            <a:r>
              <a:rPr lang="en-US" sz="2400" b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</a:t>
            </a:r>
            <a:r>
              <a:rPr lang="en-US" sz="24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showing strong performance in both classes.</a:t>
            </a:r>
          </a:p>
        </p:txBody>
      </p:sp>
      <p:graphicFrame>
        <p:nvGraphicFramePr>
          <p:cNvPr id="12" name="Google Shape;158;p26">
            <a:extLst>
              <a:ext uri="{FF2B5EF4-FFF2-40B4-BE49-F238E27FC236}">
                <a16:creationId xmlns:a16="http://schemas.microsoft.com/office/drawing/2014/main" id="{D0478A5C-21F3-ED57-10F1-16FC279B4B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9988966"/>
              </p:ext>
            </p:extLst>
          </p:nvPr>
        </p:nvGraphicFramePr>
        <p:xfrm>
          <a:off x="1562099" y="2118982"/>
          <a:ext cx="7886700" cy="237732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Metric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Logistic Regression (LR2)</a:t>
                      </a:r>
                      <a:endParaRPr sz="1800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Support Vector Machine (SVM2)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Cross-Validation Score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0.93</a:t>
                      </a:r>
                      <a:endParaRPr sz="1800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0.96</a:t>
                      </a:r>
                      <a:endParaRPr sz="1800" b="1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Accuracy Score (Test Set)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0.931</a:t>
                      </a:r>
                      <a:endParaRPr sz="1800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0.962</a:t>
                      </a:r>
                      <a:endParaRPr sz="1800" b="1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ROC AUC Area</a:t>
                      </a:r>
                      <a:endParaRPr sz="1800" b="1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98.47%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99.44%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DDFB46-CE9B-5A9F-EC7E-FD85CA3D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49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78047-C75F-3924-1419-F98A8041B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094"/>
            <a:ext cx="10515600" cy="58932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Table: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523802-2E40-775D-E066-471989B13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86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 (Continue..)</a:t>
            </a:r>
            <a:endParaRPr lang="en-US" sz="3600" dirty="0"/>
          </a:p>
        </p:txBody>
      </p:sp>
      <p:graphicFrame>
        <p:nvGraphicFramePr>
          <p:cNvPr id="5" name="Google Shape;181;p29">
            <a:extLst>
              <a:ext uri="{FF2B5EF4-FFF2-40B4-BE49-F238E27FC236}">
                <a16:creationId xmlns:a16="http://schemas.microsoft.com/office/drawing/2014/main" id="{6EEAD8F5-1101-72AC-E438-110148092F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5466114"/>
              </p:ext>
            </p:extLst>
          </p:nvPr>
        </p:nvGraphicFramePr>
        <p:xfrm>
          <a:off x="838200" y="2210531"/>
          <a:ext cx="10515600" cy="3908912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861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Class (Attack Type)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Ensemble Precision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Ensemble Recall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Ensemble F1-score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61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Bot</a:t>
                      </a:r>
                      <a:endParaRPr sz="1800" b="1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0.98</a:t>
                      </a:r>
                      <a:endParaRPr sz="1800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0.99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0.99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61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DDoS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0.99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0.99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0.99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61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Web Attack</a:t>
                      </a:r>
                      <a:endParaRPr sz="1800" b="1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0.99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0.99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0.99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61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Brute Force</a:t>
                      </a:r>
                      <a:endParaRPr sz="1800" b="1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1.00</a:t>
                      </a:r>
                      <a:endParaRPr sz="1800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0.98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0.99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61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Port Scan</a:t>
                      </a:r>
                      <a:endParaRPr sz="1800" b="1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0.98</a:t>
                      </a:r>
                      <a:endParaRPr sz="1800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0.99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0.99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61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BENIGN</a:t>
                      </a:r>
                      <a:endParaRPr sz="1800" b="1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0.94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0.96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0.95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61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DoS</a:t>
                      </a:r>
                      <a:endParaRPr sz="1800" b="1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0.98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0.97</a:t>
                      </a:r>
                      <a:endParaRPr sz="18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0.97</a:t>
                      </a:r>
                      <a:endParaRPr sz="1800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B5F7D4-8305-C730-35B3-5729F6354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74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87AF7-AA53-EA3E-895B-F035968A0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446"/>
            <a:ext cx="10515600" cy="5073505"/>
          </a:xfrm>
        </p:spPr>
        <p:txBody>
          <a:bodyPr>
            <a:normAutofit fontScale="77500" lnSpcReduction="20000"/>
          </a:bodyPr>
          <a:lstStyle/>
          <a:p>
            <a:pPr marL="0" lv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Three primary classification algorithms were trained and evaluated using the balanced, dimensionally reduced dataset (features </a:t>
            </a:r>
            <a:r>
              <a:rPr lang="en-US" sz="2600" i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X</a:t>
            </a:r>
            <a:r>
              <a:rPr lang="en-US" sz="26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and target </a:t>
            </a:r>
            <a:r>
              <a:rPr lang="en-US" sz="2600" i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y</a:t>
            </a:r>
            <a:r>
              <a:rPr lang="en-US" sz="26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split into training and testing sets). Training involved 5-fold cross-validation (</a:t>
            </a:r>
            <a:r>
              <a:rPr lang="en-US" sz="2600" dirty="0">
                <a:solidFill>
                  <a:srgbClr val="282A2C"/>
                </a:solidFill>
                <a:highlight>
                  <a:srgbClr val="C4C7C5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cv=5</a:t>
            </a:r>
            <a:r>
              <a:rPr lang="en-US" sz="26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 to assess performance stability.</a:t>
            </a:r>
          </a:p>
          <a:p>
            <a:pPr marL="0" lvl="0" indent="0" algn="just">
              <a:lnSpc>
                <a:spcPct val="120000"/>
              </a:lnSpc>
              <a:spcBef>
                <a:spcPts val="1200"/>
              </a:spcBef>
              <a:buNone/>
            </a:pPr>
            <a:endParaRPr lang="en-US" sz="26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>
              <a:lnSpc>
                <a:spcPct val="120000"/>
              </a:lnSpc>
              <a:spcBef>
                <a:spcPts val="1200"/>
              </a:spcBef>
              <a:buNone/>
            </a:pPr>
            <a:endParaRPr lang="en-US" sz="26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>
              <a:lnSpc>
                <a:spcPct val="120000"/>
              </a:lnSpc>
              <a:spcBef>
                <a:spcPts val="1200"/>
              </a:spcBef>
              <a:buNone/>
            </a:pPr>
            <a:endParaRPr lang="en-US" sz="26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>
              <a:lnSpc>
                <a:spcPct val="120000"/>
              </a:lnSpc>
              <a:spcBef>
                <a:spcPts val="1200"/>
              </a:spcBef>
              <a:buNone/>
            </a:pPr>
            <a:endParaRPr lang="en-US" sz="26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>
              <a:lnSpc>
                <a:spcPct val="120000"/>
              </a:lnSpc>
              <a:spcBef>
                <a:spcPts val="1200"/>
              </a:spcBef>
              <a:buNone/>
            </a:pPr>
            <a:endParaRPr lang="en-US" sz="26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>
              <a:lnSpc>
                <a:spcPct val="120000"/>
              </a:lnSpc>
              <a:spcBef>
                <a:spcPts val="1200"/>
              </a:spcBef>
              <a:buNone/>
            </a:pPr>
            <a:endParaRPr lang="en-US" sz="26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6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 </a:t>
            </a:r>
            <a:r>
              <a:rPr lang="en-US" sz="2600" b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Random Forest Model 2 (</a:t>
            </a:r>
            <a:r>
              <a:rPr lang="en-US" sz="2600" b="1" dirty="0" err="1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RF2</a:t>
            </a:r>
            <a:r>
              <a:rPr lang="en-US" sz="2600" b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</a:t>
            </a:r>
            <a:r>
              <a:rPr lang="en-US" sz="26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achieved the highest performance with an accuracy of </a:t>
            </a:r>
            <a:r>
              <a:rPr lang="en-US" sz="2600" b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0.9839</a:t>
            </a:r>
            <a:r>
              <a:rPr lang="en-US" sz="26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followed closely by the </a:t>
            </a:r>
            <a:r>
              <a:rPr lang="en-US" sz="2600" b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 Nearest Neighbors Model 2 (</a:t>
            </a:r>
            <a:r>
              <a:rPr lang="en-US" sz="2600" b="1" dirty="0" err="1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KNN2</a:t>
            </a:r>
            <a:r>
              <a:rPr lang="en-US" sz="2600" b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</a:t>
            </a:r>
            <a:r>
              <a:rPr lang="en-US" sz="26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at </a:t>
            </a:r>
            <a:r>
              <a:rPr lang="en-US" sz="2600" b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0.9806</a:t>
            </a:r>
            <a:r>
              <a:rPr lang="en-US" sz="26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 Both </a:t>
            </a:r>
            <a:r>
              <a:rPr lang="en-US" sz="2600" dirty="0" err="1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RF2</a:t>
            </a:r>
            <a:r>
              <a:rPr lang="en-US" sz="26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and </a:t>
            </a:r>
            <a:r>
              <a:rPr lang="en-US" sz="2600" dirty="0" err="1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KNN2</a:t>
            </a:r>
            <a:r>
              <a:rPr lang="en-US" sz="26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registered a mean 5-fold cross-validation score of </a:t>
            </a:r>
            <a:r>
              <a:rPr lang="en-US" sz="2600" b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0.98</a:t>
            </a:r>
            <a:r>
              <a:rPr lang="en-US" sz="26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0A4519-641A-DA52-90A7-4C9677DCA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049"/>
            <a:ext cx="10515600" cy="818906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 (Continue..)</a:t>
            </a:r>
            <a:endParaRPr lang="en-US" sz="3600" dirty="0"/>
          </a:p>
        </p:txBody>
      </p:sp>
      <p:sp>
        <p:nvSpPr>
          <p:cNvPr id="5" name="Google Shape;164;p27">
            <a:extLst>
              <a:ext uri="{FF2B5EF4-FFF2-40B4-BE49-F238E27FC236}">
                <a16:creationId xmlns:a16="http://schemas.microsoft.com/office/drawing/2014/main" id="{844513D6-46B6-C617-8AF9-B90D49DF022F}"/>
              </a:ext>
            </a:extLst>
          </p:cNvPr>
          <p:cNvSpPr txBox="1">
            <a:spLocks/>
          </p:cNvSpPr>
          <p:nvPr/>
        </p:nvSpPr>
        <p:spPr>
          <a:xfrm>
            <a:off x="838200" y="982792"/>
            <a:ext cx="8520600" cy="47891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 &amp; Training (Multi-Class)</a:t>
            </a:r>
          </a:p>
        </p:txBody>
      </p:sp>
      <p:graphicFrame>
        <p:nvGraphicFramePr>
          <p:cNvPr id="6" name="Google Shape;166;p27">
            <a:extLst>
              <a:ext uri="{FF2B5EF4-FFF2-40B4-BE49-F238E27FC236}">
                <a16:creationId xmlns:a16="http://schemas.microsoft.com/office/drawing/2014/main" id="{9423633E-7AA5-42AD-6E7A-D61270F9FF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0722803"/>
              </p:ext>
            </p:extLst>
          </p:nvPr>
        </p:nvGraphicFramePr>
        <p:xfrm>
          <a:off x="1488831" y="2754923"/>
          <a:ext cx="9214338" cy="2422914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071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1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1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0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Model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Mean Cross-Validation Score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Test Accuracy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0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Random Forest (RF2)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0.98</a:t>
                      </a:r>
                      <a:endParaRPr sz="1800" b="1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0.9839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0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K-Nearest Neighbors (KNN2)</a:t>
                      </a:r>
                      <a:endParaRPr sz="1800" b="1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0.98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0.9806</a:t>
                      </a:r>
                      <a:endParaRPr sz="1800" b="1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0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Decision Tree (DT2)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0.97</a:t>
                      </a:r>
                      <a:endParaRPr sz="1800" b="1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0.9723</a:t>
                      </a:r>
                      <a:endParaRPr sz="1800" b="1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CB3FD0-341F-0C84-4194-73C453E1C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632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2D44209-48D2-1FC2-BC9D-029282274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7521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 (Continue..)</a:t>
            </a:r>
            <a:endParaRPr lang="en-US" sz="3600" dirty="0"/>
          </a:p>
        </p:txBody>
      </p:sp>
      <p:sp>
        <p:nvSpPr>
          <p:cNvPr id="5" name="Google Shape;172;p28">
            <a:extLst>
              <a:ext uri="{FF2B5EF4-FFF2-40B4-BE49-F238E27FC236}">
                <a16:creationId xmlns:a16="http://schemas.microsoft.com/office/drawing/2014/main" id="{BF334779-211F-ED0F-DBC7-AA5F0331D71E}"/>
              </a:ext>
            </a:extLst>
          </p:cNvPr>
          <p:cNvSpPr txBox="1">
            <a:spLocks/>
          </p:cNvSpPr>
          <p:nvPr/>
        </p:nvSpPr>
        <p:spPr>
          <a:xfrm>
            <a:off x="838200" y="1156735"/>
            <a:ext cx="8520600" cy="377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SzPts val="990"/>
            </a:pPr>
            <a:r>
              <a:rPr lang="en-US" sz="2400" b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Ensemble Model (Voting Classifier)</a:t>
            </a:r>
            <a:endParaRPr lang="en-US" sz="24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Google Shape;173;p28">
            <a:extLst>
              <a:ext uri="{FF2B5EF4-FFF2-40B4-BE49-F238E27FC236}">
                <a16:creationId xmlns:a16="http://schemas.microsoft.com/office/drawing/2014/main" id="{C94F440B-7657-C149-37F5-FBDBF590D13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To potentially improve upon the individual classifier performance, a hard voting ensemble model was created using the two top-performing models, </a:t>
            </a:r>
            <a:r>
              <a:rPr lang="en" sz="2400" b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RF2</a:t>
            </a:r>
            <a:r>
              <a:rPr lang="en" sz="24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and </a:t>
            </a:r>
            <a:r>
              <a:rPr lang="en" sz="2400" b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KNN2</a:t>
            </a:r>
            <a:r>
              <a:rPr lang="en" sz="24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sz="24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04800" algn="just" rtl="0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2400" b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Model Configuration:</a:t>
            </a:r>
            <a:r>
              <a:rPr lang="en" sz="24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A </a:t>
            </a:r>
            <a:r>
              <a:rPr lang="en" sz="2400" dirty="0">
                <a:solidFill>
                  <a:srgbClr val="282A2C"/>
                </a:solidFill>
                <a:highlight>
                  <a:srgbClr val="C4C7C5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VotingClassifier</a:t>
            </a:r>
            <a:r>
              <a:rPr lang="en" sz="24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was trained using the </a:t>
            </a:r>
            <a:r>
              <a:rPr lang="en" sz="2400" dirty="0">
                <a:solidFill>
                  <a:srgbClr val="282A2C"/>
                </a:solidFill>
                <a:highlight>
                  <a:srgbClr val="C4C7C5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rf2</a:t>
            </a:r>
            <a:r>
              <a:rPr lang="en" sz="24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and </a:t>
            </a:r>
            <a:r>
              <a:rPr lang="en" sz="2400" dirty="0">
                <a:solidFill>
                  <a:srgbClr val="282A2C"/>
                </a:solidFill>
                <a:highlight>
                  <a:srgbClr val="C4C7C5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knn2</a:t>
            </a:r>
            <a:r>
              <a:rPr lang="en" sz="24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estimators with </a:t>
            </a:r>
            <a:r>
              <a:rPr lang="en" sz="2400" b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hard voting</a:t>
            </a:r>
            <a:r>
              <a:rPr lang="en" sz="24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(predicting the class label based on the majority vote).</a:t>
            </a:r>
            <a:endParaRPr sz="24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Char char="●"/>
            </a:pPr>
            <a:r>
              <a:rPr lang="en" sz="2400" b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Ensemble Accuracy:</a:t>
            </a:r>
            <a:r>
              <a:rPr lang="en" sz="24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The ensemble model achieved a test set accuracy of </a:t>
            </a:r>
            <a:r>
              <a:rPr lang="en" sz="2400" b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0.9806~0.9829.</a:t>
            </a:r>
            <a:endParaRPr sz="24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Ensemble Performance Summary</a:t>
            </a:r>
            <a:endParaRPr sz="2400" b="1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he ensemble model demonstrated strong, consistent performance across all classes, illustrating how combining classifier strengths can be effective. The precision, recall, and F1-scores were all high, with the weighted average F1-score being </a:t>
            </a:r>
            <a:r>
              <a:rPr lang="en" sz="2400" b="1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0.98</a:t>
            </a:r>
            <a:r>
              <a:rPr lang="en" sz="2400" dirty="0">
                <a:solidFill>
                  <a:srgbClr val="30303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sz="2400" b="1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endParaRPr sz="2400" dirty="0">
              <a:solidFill>
                <a:srgbClr val="30303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B3AB6B-5E5D-7139-B7EF-C1CB8FEB9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35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75E20E7-509A-22D6-7442-748771A0A5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8385666"/>
              </p:ext>
            </p:extLst>
          </p:nvPr>
        </p:nvGraphicFramePr>
        <p:xfrm>
          <a:off x="838200" y="2269511"/>
          <a:ext cx="10515600" cy="268224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95671247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0035189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1425241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318564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486733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-Score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894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289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5505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Brute Force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2341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9099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0358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 Scan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25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Attack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9086339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343D8C24-D2DA-A1C9-EFEB-EBE87A190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78442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 (Continue..)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6789D3-CBF8-DAB3-584D-E53DC55BC112}"/>
              </a:ext>
            </a:extLst>
          </p:cNvPr>
          <p:cNvSpPr txBox="1"/>
          <p:nvPr/>
        </p:nvSpPr>
        <p:spPr>
          <a:xfrm>
            <a:off x="3048000" y="169625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Stacked Ensemble Model Performance Table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4333A06-D3F1-61D8-C27A-019A69201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154564"/>
              </p:ext>
            </p:extLst>
          </p:nvPr>
        </p:nvGraphicFramePr>
        <p:xfrm>
          <a:off x="838200" y="5366360"/>
          <a:ext cx="10515600" cy="134112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03126527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4278330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572120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659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9422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Avg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7578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Avg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597772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93FB59F-39D1-4AAC-5C3F-1937DE2B3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307598"/>
              </p:ext>
            </p:extLst>
          </p:nvPr>
        </p:nvGraphicFramePr>
        <p:xfrm>
          <a:off x="838200" y="573257"/>
          <a:ext cx="8128000" cy="1122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0293288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Model Accuracy : 0.9835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Model Model Classification Report: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74392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8AB3056-0121-FAD7-EBEB-2BB418FADE81}"/>
              </a:ext>
            </a:extLst>
          </p:cNvPr>
          <p:cNvSpPr txBox="1"/>
          <p:nvPr/>
        </p:nvSpPr>
        <p:spPr>
          <a:xfrm>
            <a:off x="3048000" y="4927416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Performance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564152-666D-5BEF-34C8-548C2F9E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929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74C708E-9FD3-7D40-034A-9514DC663B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3302171"/>
              </p:ext>
            </p:extLst>
          </p:nvPr>
        </p:nvGraphicFramePr>
        <p:xfrm>
          <a:off x="1628106" y="2186068"/>
          <a:ext cx="8935785" cy="4554853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787157">
                  <a:extLst>
                    <a:ext uri="{9D8B030D-6E8A-4147-A177-3AD203B41FA5}">
                      <a16:colId xmlns:a16="http://schemas.microsoft.com/office/drawing/2014/main" val="2883745937"/>
                    </a:ext>
                  </a:extLst>
                </a:gridCol>
                <a:gridCol w="1787157">
                  <a:extLst>
                    <a:ext uri="{9D8B030D-6E8A-4147-A177-3AD203B41FA5}">
                      <a16:colId xmlns:a16="http://schemas.microsoft.com/office/drawing/2014/main" val="610935135"/>
                    </a:ext>
                  </a:extLst>
                </a:gridCol>
                <a:gridCol w="1787157">
                  <a:extLst>
                    <a:ext uri="{9D8B030D-6E8A-4147-A177-3AD203B41FA5}">
                      <a16:colId xmlns:a16="http://schemas.microsoft.com/office/drawing/2014/main" val="2507946888"/>
                    </a:ext>
                  </a:extLst>
                </a:gridCol>
                <a:gridCol w="1787157">
                  <a:extLst>
                    <a:ext uri="{9D8B030D-6E8A-4147-A177-3AD203B41FA5}">
                      <a16:colId xmlns:a16="http://schemas.microsoft.com/office/drawing/2014/main" val="3685286819"/>
                    </a:ext>
                  </a:extLst>
                </a:gridCol>
                <a:gridCol w="1787157">
                  <a:extLst>
                    <a:ext uri="{9D8B030D-6E8A-4147-A177-3AD203B41FA5}">
                      <a16:colId xmlns:a16="http://schemas.microsoft.com/office/drawing/2014/main" val="1549338538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extLst>
                  <a:ext uri="{0D108BD9-81ED-4DB2-BD59-A6C34878D82A}">
                    <a16:rowId xmlns:a16="http://schemas.microsoft.com/office/drawing/2014/main" val="87259871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BENIGN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1244</a:t>
                      </a:r>
                    </a:p>
                  </a:txBody>
                  <a:tcPr marL="97128" marR="97128" marT="64752" marB="64752" anchor="ctr"/>
                </a:tc>
                <a:extLst>
                  <a:ext uri="{0D108BD9-81ED-4DB2-BD59-A6C34878D82A}">
                    <a16:rowId xmlns:a16="http://schemas.microsoft.com/office/drawing/2014/main" val="315374998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1283</a:t>
                      </a:r>
                    </a:p>
                  </a:txBody>
                  <a:tcPr marL="97128" marR="97128" marT="64752" marB="64752" anchor="ctr"/>
                </a:tc>
                <a:extLst>
                  <a:ext uri="{0D108BD9-81ED-4DB2-BD59-A6C34878D82A}">
                    <a16:rowId xmlns:a16="http://schemas.microsoft.com/office/drawing/2014/main" val="159700950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Brute Force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1250</a:t>
                      </a:r>
                    </a:p>
                  </a:txBody>
                  <a:tcPr marL="97128" marR="97128" marT="64752" marB="64752" anchor="ctr"/>
                </a:tc>
                <a:extLst>
                  <a:ext uri="{0D108BD9-81ED-4DB2-BD59-A6C34878D82A}">
                    <a16:rowId xmlns:a16="http://schemas.microsoft.com/office/drawing/2014/main" val="625774455"/>
                  </a:ext>
                </a:extLst>
              </a:tr>
              <a:tr h="44806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DDoS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1230</a:t>
                      </a:r>
                    </a:p>
                  </a:txBody>
                  <a:tcPr marL="97128" marR="97128" marT="64752" marB="64752" anchor="ctr"/>
                </a:tc>
                <a:extLst>
                  <a:ext uri="{0D108BD9-81ED-4DB2-BD59-A6C34878D82A}">
                    <a16:rowId xmlns:a16="http://schemas.microsoft.com/office/drawing/2014/main" val="192670089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DoS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1264</a:t>
                      </a:r>
                    </a:p>
                  </a:txBody>
                  <a:tcPr marL="97128" marR="97128" marT="64752" marB="64752" anchor="ctr"/>
                </a:tc>
                <a:extLst>
                  <a:ext uri="{0D108BD9-81ED-4DB2-BD59-A6C34878D82A}">
                    <a16:rowId xmlns:a16="http://schemas.microsoft.com/office/drawing/2014/main" val="218995946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 Scan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1259</a:t>
                      </a:r>
                    </a:p>
                  </a:txBody>
                  <a:tcPr marL="97128" marR="97128" marT="64752" marB="64752" anchor="ctr"/>
                </a:tc>
                <a:extLst>
                  <a:ext uri="{0D108BD9-81ED-4DB2-BD59-A6C34878D82A}">
                    <a16:rowId xmlns:a16="http://schemas.microsoft.com/office/drawing/2014/main" val="7322516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Attack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1220</a:t>
                      </a:r>
                    </a:p>
                  </a:txBody>
                  <a:tcPr marL="97128" marR="97128" marT="64752" marB="64752" anchor="ctr"/>
                </a:tc>
                <a:extLst>
                  <a:ext uri="{0D108BD9-81ED-4DB2-BD59-A6C34878D82A}">
                    <a16:rowId xmlns:a16="http://schemas.microsoft.com/office/drawing/2014/main" val="146013499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---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---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---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---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---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extLst>
                  <a:ext uri="{0D108BD9-81ED-4DB2-BD59-A6C34878D82A}">
                    <a16:rowId xmlns:a16="http://schemas.microsoft.com/office/drawing/2014/main" val="4511376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6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6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8750</a:t>
                      </a:r>
                    </a:p>
                  </a:txBody>
                  <a:tcPr marL="97128" marR="97128" marT="64752" marB="64752" anchor="ctr"/>
                </a:tc>
                <a:extLst>
                  <a:ext uri="{0D108BD9-81ED-4DB2-BD59-A6C34878D82A}">
                    <a16:rowId xmlns:a16="http://schemas.microsoft.com/office/drawing/2014/main" val="185303919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avg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8750</a:t>
                      </a:r>
                    </a:p>
                  </a:txBody>
                  <a:tcPr marL="97128" marR="97128" marT="64752" marB="64752" anchor="ctr"/>
                </a:tc>
                <a:extLst>
                  <a:ext uri="{0D108BD9-81ED-4DB2-BD59-A6C34878D82A}">
                    <a16:rowId xmlns:a16="http://schemas.microsoft.com/office/drawing/2014/main" val="213409870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avg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marL="97128" marR="97128" marT="64752" marB="6475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8750</a:t>
                      </a:r>
                    </a:p>
                  </a:txBody>
                  <a:tcPr marL="97128" marR="97128" marT="64752" marB="64752" anchor="ctr"/>
                </a:tc>
                <a:extLst>
                  <a:ext uri="{0D108BD9-81ED-4DB2-BD59-A6C34878D82A}">
                    <a16:rowId xmlns:a16="http://schemas.microsoft.com/office/drawing/2014/main" val="2444013893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CCB374B5-3060-4F6A-B2EF-FC78DC927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91804"/>
            <a:ext cx="10515600" cy="752839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 (Continue..)</a:t>
            </a:r>
            <a:endParaRPr lang="en-US" sz="3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7BF4773-1775-5791-9CA6-5B8793B7E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967493"/>
              </p:ext>
            </p:extLst>
          </p:nvPr>
        </p:nvGraphicFramePr>
        <p:xfrm>
          <a:off x="838199" y="944643"/>
          <a:ext cx="8128000" cy="1122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0293288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Tuned Model Accuracy : 0.9918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Tuned Model Model Classification Report: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743921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90C895-60A2-07A4-C3E4-BCDA5E0B6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32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F5E39C-72F1-47D6-58A6-0166371E2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0120"/>
            <a:ext cx="10515600" cy="4351338"/>
          </a:xfrm>
        </p:spPr>
        <p:txBody>
          <a:bodyPr/>
          <a:lstStyle/>
          <a:p>
            <a:pPr marL="0" lvl="0" indent="0" algn="just">
              <a:spcBef>
                <a:spcPts val="0"/>
              </a:spcBef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 project validated the multi-tiered structure, demonstrating high accuracy in the 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Binary IDS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(for fast, first-level filtering) and precise attack identification in the 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Multi-Class IDS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 </a:t>
            </a:r>
          </a:p>
          <a:p>
            <a:pPr marL="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 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Stacking Classifier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(combining models like Random Forest and KNN) consistently outperformed all single base classifiers in the complex Multi-Class task, achieving the 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highest accuracy and </a:t>
            </a:r>
            <a:r>
              <a:rPr lang="en-US" sz="2400" b="1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F1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-score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 This confirmed the hypothesis that ensemble learning provides the most robust solution for generalized intrusion detection.</a:t>
            </a:r>
          </a:p>
          <a:p>
            <a:endParaRPr lang="en-US" sz="2400" dirty="0"/>
          </a:p>
        </p:txBody>
      </p:sp>
      <p:sp>
        <p:nvSpPr>
          <p:cNvPr id="7" name="Google Shape;194;p31">
            <a:extLst>
              <a:ext uri="{FF2B5EF4-FFF2-40B4-BE49-F238E27FC236}">
                <a16:creationId xmlns:a16="http://schemas.microsoft.com/office/drawing/2014/main" id="{DF3BD919-A00D-1DAD-BADC-04604E7A8F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400537"/>
            <a:ext cx="10515600" cy="9595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DCB248-B23D-AD1D-7026-6BA2EB65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325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95560-24F5-70A3-8A01-3C6429C0B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08948"/>
            <a:ext cx="10515600" cy="61277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3D0E09-B08D-0D91-17E1-BA823B1BA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42E3-F4A5-43C2-BAB9-9EBDEB0A62B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61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1912</Words>
  <Application>Microsoft Office PowerPoint</Application>
  <PresentationFormat>Widescreen</PresentationFormat>
  <Paragraphs>465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An Ensemble Based Machine Learning Approach for Multi-Class Network Intrusion Detection System</vt:lpstr>
      <vt:lpstr>Contents</vt:lpstr>
      <vt:lpstr>Introduction </vt:lpstr>
      <vt:lpstr>Literature Review</vt:lpstr>
      <vt:lpstr>Aims &amp; Objectives</vt:lpstr>
      <vt:lpstr>Contribution</vt:lpstr>
      <vt:lpstr>Dataset Description</vt:lpstr>
      <vt:lpstr>Methodology</vt:lpstr>
      <vt:lpstr>Data Preprocessing &amp; Cleaning</vt:lpstr>
      <vt:lpstr>Result &amp; Analysis</vt:lpstr>
      <vt:lpstr>Result &amp; Analysis (Continue..)</vt:lpstr>
      <vt:lpstr>Result &amp; Analysis (Continue..)</vt:lpstr>
      <vt:lpstr>Result &amp; Analysis (Continue..)</vt:lpstr>
      <vt:lpstr>Result &amp; Analysis (Continue..)</vt:lpstr>
      <vt:lpstr>Result &amp; Analysis (Continue..)</vt:lpstr>
      <vt:lpstr>Result &amp; Analysis (Continue..)</vt:lpstr>
      <vt:lpstr>Result &amp; Analysis (Continue..)</vt:lpstr>
      <vt:lpstr>Result &amp; Analysis (Continue..)</vt:lpstr>
      <vt:lpstr>Result &amp; Analysis (Continue..)</vt:lpstr>
      <vt:lpstr>Result &amp; Analysis (Continue..)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Ensemble Based Machine Learning Approach for Multi-Class Network Intrusion Detection System</dc:title>
  <dc:creator>AFJAL AHMED</dc:creator>
  <cp:lastModifiedBy>md hridoy</cp:lastModifiedBy>
  <cp:revision>22</cp:revision>
  <dcterms:created xsi:type="dcterms:W3CDTF">2025-11-22T13:52:00Z</dcterms:created>
  <dcterms:modified xsi:type="dcterms:W3CDTF">2025-12-02T14:05:31Z</dcterms:modified>
</cp:coreProperties>
</file>